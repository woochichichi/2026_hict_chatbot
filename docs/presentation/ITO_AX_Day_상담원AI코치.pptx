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1874519"/>
            <a:ext cx="109728" cy="219456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5544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37321"/>
                </a:solidFill>
                <a:latin typeface="Georgia"/>
                <a:ea typeface="Georgia"/>
                <a:cs typeface="Georgia"/>
              </a:rPr>
              <a:t>ITO AX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2057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2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상담원 AI 코치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703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물어보면 답하고, 답하면 채점하는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5074920"/>
            <a:ext cx="9509760" cy="10972"/>
          </a:xfrm>
          <a:prstGeom prst="rect">
            <a:avLst/>
          </a:prstGeom>
          <a:solidFill>
            <a:srgbClr val="D8C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52578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한화투자증권 ITO팀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5230368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배경 · 지금 상담 현장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답은 어딘가에 있는데, 흩어져 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상담원이 답 하나를 찾으려면 매번 세 곳을 헤맨다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31720"/>
            <a:ext cx="344424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201168"/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37321"/>
                </a:solidFill>
                <a:latin typeface="Georgia"/>
                <a:ea typeface="Georgia"/>
                <a:cs typeface="Georgia"/>
              </a:rPr>
              <a:t>01</a:t>
            </a:r>
          </a:p>
          <a:p>
            <a:pPr algn="l">
              <a:spcAft>
                <a:spcPts val="500"/>
              </a:spcAft>
            </a:pPr>
            <a:r>
              <a:rPr sz="20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사내 위키</a:t>
            </a:r>
          </a:p>
          <a:p>
            <a:pPr algn="l">
              <a:spcAft>
                <a:spcPts val="500"/>
              </a:spcAft>
            </a:pPr>
            <a:r>
              <a:rPr sz="6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규정·절차가 잠들어 있는 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6928" y="2331720"/>
            <a:ext cx="344424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201168"/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37321"/>
                </a:solidFill>
                <a:latin typeface="Georgia"/>
                <a:ea typeface="Georgia"/>
                <a:cs typeface="Georgia"/>
              </a:rPr>
              <a:t>02</a:t>
            </a:r>
          </a:p>
          <a:p>
            <a:pPr algn="l">
              <a:spcAft>
                <a:spcPts val="500"/>
              </a:spcAft>
            </a:pPr>
            <a:r>
              <a:rPr sz="20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공지사항</a:t>
            </a:r>
          </a:p>
          <a:p>
            <a:pPr algn="l">
              <a:spcAft>
                <a:spcPts val="500"/>
              </a:spcAft>
            </a:pPr>
            <a:r>
              <a:rPr sz="6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매일 바뀌는 최신 안내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6928" y="2331720"/>
            <a:ext cx="344424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201168"/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37321"/>
                </a:solidFill>
                <a:latin typeface="Georgia"/>
                <a:ea typeface="Georgia"/>
                <a:cs typeface="Georgia"/>
              </a:rPr>
              <a:t>03</a:t>
            </a:r>
          </a:p>
          <a:p>
            <a:pPr algn="l">
              <a:spcAft>
                <a:spcPts val="500"/>
              </a:spcAft>
            </a:pPr>
            <a:r>
              <a:rPr sz="20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메신저</a:t>
            </a:r>
          </a:p>
          <a:p>
            <a:pPr algn="l">
              <a:spcAft>
                <a:spcPts val="500"/>
              </a:spcAft>
            </a:pPr>
            <a:r>
              <a:rPr sz="6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선배에게 물어 겨우 얻는 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603504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지식은 많은데, 한 곳에 모여 있지 않다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배경 · 문제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그래서 생기는 세 가지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11064240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20823"/>
            <a:ext cx="1280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600" b="1">
                <a:solidFill>
                  <a:srgbClr val="F37321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020823"/>
            <a:ext cx="8961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찾는 데 오래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질문 1건에 편람 검색 2~5분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09543"/>
            <a:ext cx="11064240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55847"/>
            <a:ext cx="1280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600" b="1">
                <a:solidFill>
                  <a:srgbClr val="F37321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355847"/>
            <a:ext cx="8961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답이 사람마다 다름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상담 품질이 들쭉날쭉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44567"/>
            <a:ext cx="11064240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690871"/>
            <a:ext cx="1280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600" b="1">
                <a:solidFill>
                  <a:srgbClr val="F37321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690871"/>
            <a:ext cx="8961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신입이 익히는 데 오래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OJT 3~6개월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603504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느리고, 고르지 않고, 오래 걸린다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개요 · 한 장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상담원을 돕는 AI, 두 가지 모드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534924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 bIns="109728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응대 지원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상담원이 물으면,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편람 근거로 답하고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출처까지 보여준다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1920240"/>
            <a:ext cx="534924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 bIns="109728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훈련 코치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AI가 고객 역할로 질문하고,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신입 답변을 채점하고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피드백까지 준다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2120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두 모드가 같은 편람 데이터를 함께 쓴다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98932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물어보면 답하고, 답하면 채점한다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개요 · 데이터가 흐르는 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편람이 AI의 기억이 되기까지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7" name="Chevron 6"/>
          <p:cNvSpPr/>
          <p:nvPr/>
        </p:nvSpPr>
        <p:spPr>
          <a:xfrm>
            <a:off x="566928" y="2514600"/>
            <a:ext cx="2051913" cy="1051560"/>
          </a:xfrm>
          <a:prstGeom prst="chevron">
            <a:avLst>
              <a:gd name="adj" fmla="val 40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모아오기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94760"/>
            <a:ext cx="2051913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위키·편람·PDF를</a:t>
            </a:r>
          </a:p>
          <a:p>
            <a:pPr algn="ctr">
              <a:spcAft>
                <a:spcPts val="200"/>
              </a:spcAft>
            </a:pPr>
            <a:r>
              <a:rPr sz="11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한곳에</a:t>
            </a:r>
          </a:p>
        </p:txBody>
      </p:sp>
      <p:sp>
        <p:nvSpPr>
          <p:cNvPr id="9" name="Chevron 8"/>
          <p:cNvSpPr/>
          <p:nvPr/>
        </p:nvSpPr>
        <p:spPr>
          <a:xfrm>
            <a:off x="2820009" y="2514600"/>
            <a:ext cx="2051913" cy="1051560"/>
          </a:xfrm>
          <a:prstGeom prst="chevron">
            <a:avLst>
              <a:gd name="adj" fmla="val 40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정리하기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0009" y="3794760"/>
            <a:ext cx="2051913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표·제목까지 살려</a:t>
            </a:r>
          </a:p>
          <a:p>
            <a:pPr algn="ctr">
              <a:spcAft>
                <a:spcPts val="200"/>
              </a:spcAft>
            </a:pPr>
            <a:r>
              <a:rPr sz="11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깔끔하게</a:t>
            </a:r>
          </a:p>
        </p:txBody>
      </p:sp>
      <p:sp>
        <p:nvSpPr>
          <p:cNvPr id="11" name="Chevron 10"/>
          <p:cNvSpPr/>
          <p:nvPr/>
        </p:nvSpPr>
        <p:spPr>
          <a:xfrm>
            <a:off x="5073090" y="2514600"/>
            <a:ext cx="2051913" cy="1051560"/>
          </a:xfrm>
          <a:prstGeom prst="chevron">
            <a:avLst>
              <a:gd name="adj" fmla="val 40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조각내기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3090" y="3794760"/>
            <a:ext cx="2051913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찾기 좋은</a:t>
            </a:r>
          </a:p>
          <a:p>
            <a:pPr algn="ctr">
              <a:spcAft>
                <a:spcPts val="200"/>
              </a:spcAft>
            </a:pPr>
            <a:r>
              <a:rPr sz="11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크기로 나눔</a:t>
            </a:r>
          </a:p>
        </p:txBody>
      </p:sp>
      <p:sp>
        <p:nvSpPr>
          <p:cNvPr id="13" name="Chevron 12"/>
          <p:cNvSpPr/>
          <p:nvPr/>
        </p:nvSpPr>
        <p:spPr>
          <a:xfrm>
            <a:off x="7326171" y="2514600"/>
            <a:ext cx="2051913" cy="1051560"/>
          </a:xfrm>
          <a:prstGeom prst="chevron">
            <a:avLst>
              <a:gd name="adj" fmla="val 40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기억시키기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26171" y="3794760"/>
            <a:ext cx="2051913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AI가</a:t>
            </a:r>
          </a:p>
          <a:p>
            <a:pPr algn="ctr">
              <a:spcAft>
                <a:spcPts val="200"/>
              </a:spcAft>
            </a:pPr>
            <a:r>
              <a:rPr sz="11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뜻으로 기억</a:t>
            </a:r>
          </a:p>
        </p:txBody>
      </p:sp>
      <p:sp>
        <p:nvSpPr>
          <p:cNvPr id="15" name="Chevron 14"/>
          <p:cNvSpPr/>
          <p:nvPr/>
        </p:nvSpPr>
        <p:spPr>
          <a:xfrm>
            <a:off x="9579252" y="2514600"/>
            <a:ext cx="2051913" cy="1051560"/>
          </a:xfrm>
          <a:prstGeom prst="chevron">
            <a:avLst>
              <a:gd name="adj" fmla="val 40000"/>
            </a:avLst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찾아쓰기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79252" y="3794760"/>
            <a:ext cx="2051913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질문에 맞는</a:t>
            </a:r>
          </a:p>
          <a:p>
            <a:pPr algn="ctr">
              <a:spcAft>
                <a:spcPts val="200"/>
              </a:spcAft>
            </a:pPr>
            <a:r>
              <a:rPr sz="11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조각을 꺼냄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603504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흩어진 편람을 AI가 꺼내 쓸 수 있는 형태로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개요 · 우리가 더한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기본 위에, 한 걸음 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36576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09728" bIns="109728"/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기본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질문과 비슷한 문서를
찾아 답한다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417320"/>
            <a:ext cx="7132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우리가 더한 플러스 알파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74519"/>
            <a:ext cx="710488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82312" y="1874519"/>
            <a:ext cx="65836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제목과 본문을 따로 기억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헷갈리는 질문도 정확히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999231"/>
            <a:ext cx="710488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2999231"/>
            <a:ext cx="65836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뜻으로도, 정확한 단어로도 함께 찾기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놓치는 답 줄임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4123943"/>
            <a:ext cx="710488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2312" y="4123943"/>
            <a:ext cx="65836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근거(출처)를 답보다 먼저 보여주기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믿고 쓴다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603504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남들 하는 기본에, 신뢰를 더했다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문제 돌파 · 벽 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인터넷이 막힌 폐쇄망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45720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4000" b="1">
                <a:solidFill>
                  <a:srgbClr val="D8CBB8"/>
                </a:solidFill>
                <a:latin typeface="Georgia"/>
                <a:ea typeface="Georgia"/>
                <a:cs typeface="Georgia"/>
              </a:rPr>
              <a:t>벽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6596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19456" bIns="219456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사내 편람을 밖으로 내보낼 수 없다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96596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19456" bIns="219456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임시 해결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PDF·HTML을 사람이 직접 반입해 넣었다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96596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19456" bIns="219456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근본 해결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서버 도입 시 위키에 직접 연결해 자동으로 받아온다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603504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지금도 되고, 서버 붙으면 자동이 된다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문제 돌파 · 벽 2/4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바뀐 건 한 줄인데, 전부 다시?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45720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4000" b="1">
                <a:solidFill>
                  <a:srgbClr val="D8CBB8"/>
                </a:solidFill>
                <a:latin typeface="Georgia"/>
                <a:ea typeface="Georgia"/>
                <a:cs typeface="Georgia"/>
              </a:rPr>
              <a:t>벽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6596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19456" bIns="219456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편람이 조금만 바뀌어도 전체를 다시 처리하면 느리고 비싸다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96596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19456" bIns="219456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임시 해결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그냥 전량 재처리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96596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19456" bIns="219456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근본 해결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내용 지문(고유값)을 비교해 바뀐 조각만 갱신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603504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바뀐 1~5%만 손대 재작업 대부분을 없앴다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문제 돌파 · 벽 3/4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그럴듯한 답 말고, 맞는 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45720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4000" b="1">
                <a:solidFill>
                  <a:srgbClr val="D8CBB8"/>
                </a:solidFill>
                <a:latin typeface="Georgia"/>
                <a:ea typeface="Georgia"/>
                <a:cs typeface="Georgia"/>
              </a:rPr>
              <a:t>벽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6596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19456" bIns="219456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단순 검색은 엉뚱한 근거로 그럴듯하게 틀린다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96596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19456" bIns="219456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임시 해결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비슷한 문서 하나 찾아 답변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96596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19456" bIns="219456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근본 해결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뜻+단어를 함께 찾고 · 조각 크기를 조정하고 · 출처를 붙여 보여준다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603504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정확도가 눈에 띄게 올랐다 (다음 장 수치)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문제 돌파 · 벽 4/4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지금은 외부 AI, 곧 사내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45720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4000" b="1">
                <a:solidFill>
                  <a:srgbClr val="D8CBB8"/>
                </a:solidFill>
                <a:latin typeface="Georgia"/>
                <a:ea typeface="Georgia"/>
                <a:cs typeface="Georgia"/>
              </a:rPr>
              <a:t>벽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6596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19456" bIns="219456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폐쇄망에서 바로 쓸 사내 생성 AI가 아직 없다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96596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19456" bIns="219456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임시 해결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외부 생성 AI를 임시로 사용
(※ 검색·기억은 이미 전부 사내에서 동작)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96596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19456" bIns="219456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근본 해결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갈아끼우기 쉬운 구조로 설계 —
사내망 모델이 준비되면
코드 수정 없이 즉시 교체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603504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임시로 굴리되, 언제든 사내로 갈아끼운다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시연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말보다, 직접 보시죠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37360" y="1737360"/>
            <a:ext cx="8686800" cy="3977639"/>
          </a:xfrm>
          <a:prstGeom prst="roundRect">
            <a:avLst>
              <a:gd name="adj" fmla="val 5000"/>
            </a:avLst>
          </a:prstGeom>
          <a:solidFill>
            <a:srgbClr val="F7F1E7"/>
          </a:solidFill>
          <a:ln w="15875">
            <a:solidFill>
              <a:srgbClr val="8B7E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500"/>
              </a:spcAft>
            </a:pPr>
            <a:r>
              <a:rPr sz="130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▶  시연 영상 — 이 자리에 영상을 올리세요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80644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발표 시 이 박스 위에 시연 영상(MP4)을 끌어다 놓으세요.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603504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응대 → 훈련까지, 한 화면에서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기대효과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무엇이 좋아지나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48840"/>
            <a:ext cx="344424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19456" bIns="219456"/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F37321"/>
                </a:solidFill>
                <a:latin typeface="Georgia"/>
                <a:ea typeface="Georgia"/>
                <a:cs typeface="Georgia"/>
              </a:rPr>
              <a:t>01</a:t>
            </a:r>
          </a:p>
          <a:p>
            <a:pPr algn="l">
              <a:spcAft>
                <a:spcPts val="500"/>
              </a:spcAft>
            </a:pPr>
            <a:r>
              <a:rPr sz="18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응대 시간 단축</a:t>
            </a:r>
          </a:p>
          <a:p>
            <a:pPr algn="l">
              <a:spcAft>
                <a:spcPts val="500"/>
              </a:spcAft>
            </a:pPr>
            <a:r>
              <a:rPr sz="6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편람 헤매던 시간을 줄인다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6928" y="2148840"/>
            <a:ext cx="344424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19456" bIns="219456"/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F37321"/>
                </a:solidFill>
                <a:latin typeface="Georgia"/>
                <a:ea typeface="Georgia"/>
                <a:cs typeface="Georgia"/>
              </a:rPr>
              <a:t>02</a:t>
            </a:r>
          </a:p>
          <a:p>
            <a:pPr algn="l">
              <a:spcAft>
                <a:spcPts val="500"/>
              </a:spcAft>
            </a:pPr>
            <a:r>
              <a:rPr sz="18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답변 품질 균일화</a:t>
            </a:r>
          </a:p>
          <a:p>
            <a:pPr algn="l">
              <a:spcAft>
                <a:spcPts val="500"/>
              </a:spcAft>
            </a:pPr>
            <a:r>
              <a:rPr sz="6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누가 받아도 같은 수준의 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6928" y="2148840"/>
            <a:ext cx="344424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19456" bIns="219456"/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F37321"/>
                </a:solidFill>
                <a:latin typeface="Georgia"/>
                <a:ea typeface="Georgia"/>
                <a:cs typeface="Georgia"/>
              </a:rPr>
              <a:t>03</a:t>
            </a:r>
          </a:p>
          <a:p>
            <a:pPr algn="l">
              <a:spcAft>
                <a:spcPts val="500"/>
              </a:spcAft>
            </a:pPr>
            <a:r>
              <a:rPr sz="18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신입 교육 지원</a:t>
            </a:r>
          </a:p>
          <a:p>
            <a:pPr algn="l">
              <a:spcAft>
                <a:spcPts val="500"/>
              </a:spcAft>
            </a:pPr>
            <a:r>
              <a:rPr sz="6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AI 코치로 더 빨리 익힌다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749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같은 인원으로 더 많은 · 더 고른 응대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603504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빠르게, 고르게, 빨리 배운다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기대효과 · 근거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숫자로 확인한 신뢰도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344424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300"/>
              </a:spcAft>
            </a:pPr>
            <a:r>
              <a:rPr sz="4000" b="1">
                <a:solidFill>
                  <a:srgbClr val="C05A17"/>
                </a:solidFill>
                <a:latin typeface="Georgia"/>
                <a:ea typeface="Georgia"/>
                <a:cs typeface="Georgia"/>
              </a:rPr>
              <a:t>100%</a:t>
            </a:r>
          </a:p>
          <a:p>
            <a:pPr algn="ctr">
              <a:spcAft>
                <a:spcPts val="300"/>
              </a:spcAft>
            </a:pPr>
            <a:r>
              <a:rPr sz="8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근거 문서를 상위 3개 안에서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찾는 비율 (30문항 기준)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6928" y="1965960"/>
            <a:ext cx="344424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300"/>
              </a:spcAft>
            </a:pPr>
            <a:r>
              <a:rPr sz="4000" b="1">
                <a:solidFill>
                  <a:srgbClr val="C05A17"/>
                </a:solidFill>
                <a:latin typeface="Georgia"/>
                <a:ea typeface="Georgia"/>
                <a:cs typeface="Georgia"/>
              </a:rPr>
              <a:t>62% → 81%</a:t>
            </a:r>
          </a:p>
          <a:p>
            <a:pPr algn="ctr">
              <a:spcAft>
                <a:spcPts val="300"/>
              </a:spcAft>
            </a:pPr>
            <a:r>
              <a:rPr sz="8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뜻+단어 함께 찾기로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최상위 적중률 상승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6928" y="1965960"/>
            <a:ext cx="344424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300"/>
              </a:spcAft>
            </a:pPr>
            <a:r>
              <a:rPr sz="4000" b="1">
                <a:solidFill>
                  <a:srgbClr val="C05A17"/>
                </a:solidFill>
                <a:latin typeface="Georgia"/>
                <a:ea typeface="Georgia"/>
                <a:cs typeface="Georgia"/>
              </a:rPr>
              <a:t>80%+</a:t>
            </a:r>
          </a:p>
          <a:p>
            <a:pPr algn="ctr">
              <a:spcAft>
                <a:spcPts val="300"/>
              </a:spcAft>
            </a:pPr>
            <a:r>
              <a:rPr sz="8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답변 정확도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9834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신뢰도를 더 다지기 위해 평가 문항을 30 → 100문항으로 늘려 재측정 예정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603504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검색은 이미 최상위, 답변은 목표를 향해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앞으로 · 도입 청사진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제대로 도입하려면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5367528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910328" cy="148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서버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사내 GPU 서버에 올려 폐쇄망에서 운영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1965960"/>
            <a:ext cx="5367528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965960"/>
            <a:ext cx="4910328" cy="148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기업용 지식 저장소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지금은 시험용, 실도입 땐 기업용으로 교체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721608"/>
            <a:ext cx="5367528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21608"/>
            <a:ext cx="4910328" cy="148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사내 DB 연동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편람·시스템과 직접 연결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3721608"/>
            <a:ext cx="5367528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3721608"/>
            <a:ext cx="4910328" cy="148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표준 연동 활용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사내 시스템을 표준 방식으로 연결 (향후)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603504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POC를 실서비스로 올리는 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앞으로 · 도입 근거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다른 증권사는 어디까지 왔나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48840"/>
            <a:ext cx="11064240" cy="2743200"/>
          </a:xfrm>
          <a:prstGeom prst="roundRect">
            <a:avLst>
              <a:gd name="adj" fmla="val 5000"/>
            </a:avLst>
          </a:prstGeom>
          <a:solidFill>
            <a:srgbClr val="F7F1E7"/>
          </a:solidFill>
          <a:ln w="15875">
            <a:solidFill>
              <a:srgbClr val="8B7E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500"/>
              </a:spcAft>
            </a:pPr>
            <a:r>
              <a:rPr sz="130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※ 타 증권사 AI 상담 도입 현황 — 자료 반영 예정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603504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업계 흐름이 도입의 근거가 된다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앞으로 · 우리의 제안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더 개발하겠다가 아니라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5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도입하려면 이런 환경과 기술이 필요합니다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611880"/>
            <a:ext cx="34747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사내 서버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3611880"/>
            <a:ext cx="34747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사내 AI 모델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3611880"/>
            <a:ext cx="34747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C05A17"/>
                </a:solidFill>
                <a:latin typeface="맑은 고딕"/>
                <a:ea typeface="맑은 고딕"/>
                <a:cs typeface="맑은 고딕"/>
              </a:rPr>
              <a:t>데이터 연동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8920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환경만 갖춰지면 바로 올릴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6035040"/>
            <a:ext cx="11064240" cy="530352"/>
          </a:xfrm>
          <a:prstGeom prst="roundRect">
            <a:avLst>
              <a:gd name="adj" fmla="val 5000"/>
            </a:avLst>
          </a:prstGeom>
          <a:solidFill>
            <a:srgbClr val="3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우리는 준비됐다 — 남은 건 환경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651760"/>
            <a:ext cx="109728" cy="15544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274320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물어보면 답하고, 답하면 채점하는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1605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한화투자증권 ITO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부록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성공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1106424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09728" bIns="109728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·  답변 정확도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    80% 이상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·  출처 정확도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    90% 이상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·  응답 속도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    3초 이내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·  환각(잘못된 답)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    5% 미만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부록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1106424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09728" bIns="109728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·  7월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    PoC 완성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·  8월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    사내 GPU 환경 준비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·  9월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    고객사 선제안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부록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컴플라이언스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1106424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09728" bIns="109728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·  개인정보·금융 규제 대응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    규제 요건에 맞춘 처리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·  폐쇄망 내 데이터 상주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    데이터는 사내에만 머문다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·  외부 전송 없음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    생성 AI 교체 시 완전 사내화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2296" cy="8412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37321"/>
                </a:solidFill>
                <a:latin typeface="맑은 고딕"/>
                <a:ea typeface="맑은 고딕"/>
                <a:cs typeface="맑은 고딕"/>
              </a:rPr>
              <a:t>부록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보안 상세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B7E70"/>
                </a:solidFill>
                <a:latin typeface="Georgia"/>
                <a:ea typeface="Georgia"/>
                <a:cs typeface="Georgia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1106424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09728" bIns="109728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·  통합인증 수집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    사내 통합 인증 연동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·  사내 SSL 대응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    사내 보안 통신 대응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3B2C22"/>
                </a:solidFill>
                <a:latin typeface="맑은 고딕"/>
                <a:ea typeface="맑은 고딕"/>
                <a:cs typeface="맑은 고딕"/>
              </a:rPr>
              <a:t>·  폐쇄망 이식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8B7E70"/>
                </a:solidFill>
                <a:latin typeface="맑은 고딕"/>
                <a:ea typeface="맑은 고딕"/>
                <a:cs typeface="맑은 고딕"/>
              </a:rPr>
              <a:t>    벡터 저장소 폴더 이동만으로 이식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