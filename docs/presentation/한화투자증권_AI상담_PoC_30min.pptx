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194560"/>
            <a:ext cx="146304" cy="1554480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8288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고객사 공유회 · Proof of 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331720"/>
            <a:ext cx="106070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한화투자증권 AI 상담 어시스턴트</a:t>
            </a:r>
          </a:p>
          <a:p>
            <a:pPr algn="l">
              <a:spcAft>
                <a:spcPts val="400"/>
              </a:spcAft>
            </a:pPr>
            <a:r>
              <a:rPr sz="1900" b="0">
                <a:solidFill>
                  <a:srgbClr val="C7D2E4"/>
                </a:solidFill>
                <a:latin typeface="맑은 고딕"/>
                <a:ea typeface="맑은 고딕"/>
                <a:cs typeface="맑은 고딕"/>
              </a:rPr>
              <a:t>상담사가 실제로 쓰는 '응대 + 코칭 + 정합성'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521208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업무편람 기반 RAG · 출처 인용 · 폐쇄망 이식형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9CA8BC"/>
                </a:solidFill>
                <a:latin typeface="맑은 고딕"/>
                <a:ea typeface="맑은 고딕"/>
                <a:cs typeface="맑은 고딕"/>
              </a:rPr>
              <a:t>FastAPI · React · ChromaDB · bge-m3(로컬 임베딩) · LLM 교체형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109728" cy="868680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21792"/>
            <a:ext cx="10789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이야기 — 30분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11091672" cy="84124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01   무엇을 / 왜 만들었나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문제정의 · 3개 기능(응대·AI코치·오답제보)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42616"/>
            <a:ext cx="11091672" cy="84124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02   어떻게 작동하나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아키텍처 · RAG 파이프라인 · 라이브 데모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593592"/>
            <a:ext cx="11091672" cy="84124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03   정확도와 그 근거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검색·답변 분리 측정 · 측정 방법론 · 차별화 기법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544568"/>
            <a:ext cx="11091672" cy="84124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04   LLM 한계와 해결방향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환각·최신성·도메인·망분리 — 업계 해결책 + 우리 적용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495544"/>
            <a:ext cx="11091672" cy="84124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05   비전 &amp; 실도입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데이터 허브 · STT · 폐쇄망 로드맵 · ROI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109728" cy="868680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01 · 무엇을/왜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21792"/>
            <a:ext cx="10789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문제 — 검색에 시간을 갈아넣고, 신입은 맨몸으로 배운다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3514344" cy="237744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250" b="1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고객 1건 응대 중 편람 검색</a:t>
            </a:r>
          </a:p>
          <a:p>
            <a:pPr algn="ctr">
              <a:spcAft>
                <a:spcPts val="500"/>
              </a:spcAft>
            </a:pPr>
            <a:r>
              <a:rPr sz="3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120~300초</a:t>
            </a:r>
          </a:p>
          <a:p>
            <a:pPr algn="ctr">
              <a:spcAft>
                <a:spcPts val="500"/>
              </a:spcAft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숙련자도 직접 검색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37304" y="2011680"/>
            <a:ext cx="3514344" cy="237744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250" b="1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신입이 혼자 응대까지</a:t>
            </a:r>
          </a:p>
          <a:p>
            <a:pPr algn="ctr">
              <a:spcAft>
                <a:spcPts val="500"/>
              </a:spcAft>
            </a:pPr>
            <a:r>
              <a:rPr sz="3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약 3개월</a:t>
            </a:r>
          </a:p>
          <a:p>
            <a:pPr algn="ctr">
              <a:spcAft>
                <a:spcPts val="500"/>
              </a:spcAft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선배 1:1 OJT 필요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25968" y="2011680"/>
            <a:ext cx="3514344" cy="237744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250" b="1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지식이 흩어진 곳</a:t>
            </a:r>
          </a:p>
          <a:p>
            <a:pPr algn="ctr">
              <a:spcAft>
                <a:spcPts val="500"/>
              </a:spcAft>
            </a:pPr>
            <a:r>
              <a:rPr sz="380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비정형</a:t>
            </a:r>
          </a:p>
          <a:p>
            <a:pPr algn="ctr">
              <a:spcAft>
                <a:spcPts val="500"/>
              </a:spcAft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메일·메신저·엑셀·편람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5488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• 정답은 편람·FAQ·선배 머릿속에 흩어져 있고, 찾는 일은 사람의 시간을 소모한다.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• 콜센터는 근무시간의 상당 부분을 '검색'에 쓴다(McKinsey·IDC: 정보탐색에 근무시간 20~30%).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94360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검색도 교육도 사람의 시간을 쓰는 구조 → AI로 '응대 지원 + 코칭 + 정합성'을 함께 푼다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109728" cy="868680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01 · 무엇을/왜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21792"/>
            <a:ext cx="10789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해결 — 하나의 답변DB, 세 가지 쓰임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74519"/>
            <a:ext cx="3514344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💬 응대 모드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• 고객 응대 중 편람 검색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• 질문 → 출처·신뢰도 + 답변(스트리밍)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• 추후 STT로 통화내용 자동 입력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37304" y="1874519"/>
            <a:ext cx="3514344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329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🎓 AI 코치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• 응대 상황 시뮬레이션 + 채점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• 고객 페르소나(말 긴/급한/불만/초보)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• 일반 CS 코칭 → 추후 콜센터 교육방식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25968" y="1874519"/>
            <a:ext cx="3514344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0F766E"/>
                </a:solidFill>
                <a:latin typeface="맑은 고딕"/>
                <a:ea typeface="맑은 고딕"/>
                <a:cs typeface="맑은 고딕"/>
              </a:rPr>
              <a:t>⚑ 오답 제보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• 답변 정합성을 상담사가 제보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• 사유 + 정답제안 → 로컬 저장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• 검토 → 답변/편람 보정(데이터 선순환)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94360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같은 업무편람 데이터를 — 응대는 '검색→답변', 코치는 '출제→채점', 제보는 '수집→개선'으로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109728" cy="868680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02 · 어떻게 작동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21792"/>
            <a:ext cx="10789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라이브 데모 ① 응대 모드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53949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329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화면 흐름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1. 상담사가 자연어로 질문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2. 검색 즉시 '출처 + 신뢰도 뱃지' 선표시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3. 답변이 토큰 단위로 스트리밍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4. 답변 아래 '⚑ 오답 제보' 링크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5. 입력창 옆 🎙️ (STT 자리, 준비중)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828800"/>
            <a:ext cx="53949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이 데모에서 보실 것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• 출처가 답변보다 먼저 뜬다(SSE)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• [1][2] 인용번호 ↔ 출처 1:1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• 신뢰도 high/medium/low 뱃지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• 편람에 없으면 '확인되지 않음' 거부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• 한화 오렌지 UI(상담사 대면용)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* 데모 PC는 폐쇄망 대비 로컬 임베딩(bge-m3). 답변 생성 LLM만 교체 지점.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109728" cy="868680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02 · 어떻게 작동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21792"/>
            <a:ext cx="10789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라이브 데모 ② AI 코치 — '어떤 고객이 올지 모른다'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53949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329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시뮬레이션 루프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1. 난이도 + 고객 상황(페르소나) 선택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2. AI가 고객役으로 질문 출제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3. 신입이 응대 답변 작성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4. AI가 채점 + CS 코칭 피드백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5. 모범답변 · 편람 출처 제공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828800"/>
            <a:ext cx="53949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고객 페르소나(상황)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• 일반(표준) 고객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• 말이 긴/장황한 고객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• 급한/조급한 고객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• 불만/화난 고객 → 공감·진정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• 초보 고객 → 쉬운 설명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94360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실환경엔 다양한 고객이 인입된다 → 상황별 응대를 '안전하게 미리' 훈련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109728" cy="868680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02 · 어떻게 작동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21792"/>
            <a:ext cx="10789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라이브 데모 ③ 오답 제보 → 검토 (데이터 선순환)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Chevron 5"/>
          <p:cNvSpPr/>
          <p:nvPr/>
        </p:nvSpPr>
        <p:spPr>
          <a:xfrm>
            <a:off x="548640" y="2011680"/>
            <a:ext cx="2130552" cy="1051560"/>
          </a:xfrm>
          <a:prstGeom prst="chevron">
            <a:avLst>
              <a:gd name="adj" fmla="val 35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답변 의심</a:t>
            </a:r>
          </a:p>
        </p:txBody>
      </p:sp>
      <p:sp>
        <p:nvSpPr>
          <p:cNvPr id="7" name="Chevron 6"/>
          <p:cNvSpPr/>
          <p:nvPr/>
        </p:nvSpPr>
        <p:spPr>
          <a:xfrm>
            <a:off x="2788920" y="2011680"/>
            <a:ext cx="2130552" cy="1051560"/>
          </a:xfrm>
          <a:prstGeom prst="chevron">
            <a:avLst>
              <a:gd name="adj" fmla="val 35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⚑ 제보(사유+정답제안)</a:t>
            </a:r>
          </a:p>
        </p:txBody>
      </p:sp>
      <p:sp>
        <p:nvSpPr>
          <p:cNvPr id="8" name="Chevron 7"/>
          <p:cNvSpPr/>
          <p:nvPr/>
        </p:nvSpPr>
        <p:spPr>
          <a:xfrm>
            <a:off x="5029200" y="2011680"/>
            <a:ext cx="2130552" cy="1051560"/>
          </a:xfrm>
          <a:prstGeom prst="chevron">
            <a:avLst>
              <a:gd name="adj" fmla="val 35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로컬 SQLite 축적</a:t>
            </a:r>
          </a:p>
        </p:txBody>
      </p:sp>
      <p:sp>
        <p:nvSpPr>
          <p:cNvPr id="9" name="Chevron 8"/>
          <p:cNvSpPr/>
          <p:nvPr/>
        </p:nvSpPr>
        <p:spPr>
          <a:xfrm>
            <a:off x="7269480" y="2011680"/>
            <a:ext cx="2130552" cy="1051560"/>
          </a:xfrm>
          <a:prstGeom prst="chevron">
            <a:avLst>
              <a:gd name="adj" fmla="val 35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운영자 검토</a:t>
            </a:r>
          </a:p>
        </p:txBody>
      </p:sp>
      <p:sp>
        <p:nvSpPr>
          <p:cNvPr id="10" name="Chevron 9"/>
          <p:cNvSpPr/>
          <p:nvPr/>
        </p:nvSpPr>
        <p:spPr>
          <a:xfrm>
            <a:off x="9509760" y="2011680"/>
            <a:ext cx="2130552" cy="1051560"/>
          </a:xfrm>
          <a:prstGeom prst="chevron">
            <a:avLst>
              <a:gd name="adj" fmla="val 35000"/>
            </a:avLst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편람/답변 보정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66160"/>
            <a:ext cx="1060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• 제보 시 질문·답변·출처·신뢰도를 '스냅샷'으로 함께 저장 → 재현·추적 가능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• 검토 화면: 미처리/처리완료 필터, '처리완료'는 선점형 상태변경(이중 처리 방지)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• 폐쇄망 대비 외부 의존 0 — 파일 DB 1개(data/feedback.db)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D85C12"/>
                </a:solidFill>
                <a:latin typeface="맑은 고딕"/>
                <a:ea typeface="맑은 고딕"/>
                <a:cs typeface="맑은 고딕"/>
              </a:rPr>
              <a:t>• 이 루프가 곧 '답변DB 품질을 키우는 데이터 플라이휠'의 출발점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94360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틀린 답을 '버그가 아니라 데이터'로 바꾼다 — 쓸수록 좋아지는 구조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109728" cy="868680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02 · 어떻게 작동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21792"/>
            <a:ext cx="10789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 아키텍처 — 폐쇄망 이식을 전제로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Chevron 5"/>
          <p:cNvSpPr/>
          <p:nvPr/>
        </p:nvSpPr>
        <p:spPr>
          <a:xfrm>
            <a:off x="548640" y="1920240"/>
            <a:ext cx="2130552" cy="1005840"/>
          </a:xfrm>
          <a:prstGeom prst="chevron">
            <a:avLst>
              <a:gd name="adj" fmla="val 35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상담사(React)</a:t>
            </a:r>
          </a:p>
        </p:txBody>
      </p:sp>
      <p:sp>
        <p:nvSpPr>
          <p:cNvPr id="7" name="Chevron 6"/>
          <p:cNvSpPr/>
          <p:nvPr/>
        </p:nvSpPr>
        <p:spPr>
          <a:xfrm>
            <a:off x="2788920" y="1920240"/>
            <a:ext cx="2130552" cy="1005840"/>
          </a:xfrm>
          <a:prstGeom prst="chevron">
            <a:avLst>
              <a:gd name="adj" fmla="val 35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FastAPI</a:t>
            </a:r>
          </a:p>
        </p:txBody>
      </p:sp>
      <p:sp>
        <p:nvSpPr>
          <p:cNvPr id="8" name="Chevron 7"/>
          <p:cNvSpPr/>
          <p:nvPr/>
        </p:nvSpPr>
        <p:spPr>
          <a:xfrm>
            <a:off x="5029200" y="1920240"/>
            <a:ext cx="2130552" cy="1005840"/>
          </a:xfrm>
          <a:prstGeom prst="chevron">
            <a:avLst>
              <a:gd name="adj" fmla="val 35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검색(ChromaDB)</a:t>
            </a:r>
          </a:p>
        </p:txBody>
      </p:sp>
      <p:sp>
        <p:nvSpPr>
          <p:cNvPr id="9" name="Chevron 8"/>
          <p:cNvSpPr/>
          <p:nvPr/>
        </p:nvSpPr>
        <p:spPr>
          <a:xfrm>
            <a:off x="7269480" y="1920240"/>
            <a:ext cx="2130552" cy="1005840"/>
          </a:xfrm>
          <a:prstGeom prst="chevron">
            <a:avLst>
              <a:gd name="adj" fmla="val 35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LLM 답변생성</a:t>
            </a:r>
          </a:p>
        </p:txBody>
      </p:sp>
      <p:sp>
        <p:nvSpPr>
          <p:cNvPr id="10" name="Chevron 9"/>
          <p:cNvSpPr/>
          <p:nvPr/>
        </p:nvSpPr>
        <p:spPr>
          <a:xfrm>
            <a:off x="9509760" y="1920240"/>
            <a:ext cx="2130552" cy="1005840"/>
          </a:xfrm>
          <a:prstGeom prst="chevron">
            <a:avLst>
              <a:gd name="adj" fmla="val 35000"/>
            </a:avLst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출처+답변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00400"/>
            <a:ext cx="11091672" cy="64008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프론트  React + Vite   </a:t>
            </a: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응대/AI코치/제보검토 3화면, SSE 스트리밍 소비, 한화 오렌지 UI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50208"/>
            <a:ext cx="11091672" cy="64008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백엔드  FastAPI   </a:t>
            </a: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라우터(얇음) + 서비스(RAG·채점·제보) 분리, LLM 추상화(4메서드)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700016"/>
            <a:ext cx="11091672" cy="64008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검색  ChromaDB(2컬렉션)   </a:t>
            </a: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faq_titles + faq_contents, 코사인, 파일기반(폴더복사=이식)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449824"/>
            <a:ext cx="11091672" cy="640080"/>
          </a:xfrm>
          <a:prstGeom prst="roundRect">
            <a:avLst>
              <a:gd name="adj" fmla="val 6000"/>
            </a:avLst>
          </a:prstGeom>
          <a:solidFill>
            <a:srgbClr val="FFF3EC"/>
          </a:solidFill>
          <a:ln w="19050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400" b="1">
                <a:solidFill>
                  <a:srgbClr val="D85C12"/>
                </a:solidFill>
                <a:latin typeface="맑은 고딕"/>
                <a:ea typeface="맑은 고딕"/>
                <a:cs typeface="맑은 고딕"/>
              </a:rPr>
              <a:t>임베딩  bge-m3(로컬)   </a:t>
            </a: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1024차원, 오프라인·무료, 폐쇄망 그대로. 생성 LLM만 교체 지점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출처: docs/architecture.md, docs/api-spec.md (단일 진실 소스)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109728" cy="868680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03 · 정확도/근거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21792"/>
            <a:ext cx="10789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왜 파인튜닝이 아니라 RAG인가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Chevron 5"/>
          <p:cNvSpPr/>
          <p:nvPr/>
        </p:nvSpPr>
        <p:spPr>
          <a:xfrm>
            <a:off x="548640" y="2011680"/>
            <a:ext cx="2130552" cy="1005840"/>
          </a:xfrm>
          <a:prstGeom prst="chevron">
            <a:avLst>
              <a:gd name="adj" fmla="val 35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질문</a:t>
            </a:r>
          </a:p>
        </p:txBody>
      </p:sp>
      <p:sp>
        <p:nvSpPr>
          <p:cNvPr id="7" name="Chevron 6"/>
          <p:cNvSpPr/>
          <p:nvPr/>
        </p:nvSpPr>
        <p:spPr>
          <a:xfrm>
            <a:off x="2788920" y="2011680"/>
            <a:ext cx="2130552" cy="1005840"/>
          </a:xfrm>
          <a:prstGeom prst="chevron">
            <a:avLst>
              <a:gd name="adj" fmla="val 35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임베딩</a:t>
            </a:r>
          </a:p>
        </p:txBody>
      </p:sp>
      <p:sp>
        <p:nvSpPr>
          <p:cNvPr id="8" name="Chevron 7"/>
          <p:cNvSpPr/>
          <p:nvPr/>
        </p:nvSpPr>
        <p:spPr>
          <a:xfrm>
            <a:off x="5029200" y="2011680"/>
            <a:ext cx="2130552" cy="1005840"/>
          </a:xfrm>
          <a:prstGeom prst="chevron">
            <a:avLst>
              <a:gd name="adj" fmla="val 35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ChromaDB 검색</a:t>
            </a:r>
          </a:p>
        </p:txBody>
      </p:sp>
      <p:sp>
        <p:nvSpPr>
          <p:cNvPr id="9" name="Chevron 8"/>
          <p:cNvSpPr/>
          <p:nvPr/>
        </p:nvSpPr>
        <p:spPr>
          <a:xfrm>
            <a:off x="7269480" y="2011680"/>
            <a:ext cx="2130552" cy="1005840"/>
          </a:xfrm>
          <a:prstGeom prst="chevron">
            <a:avLst>
              <a:gd name="adj" fmla="val 35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LLM이 문서 참고</a:t>
            </a:r>
          </a:p>
        </p:txBody>
      </p:sp>
      <p:sp>
        <p:nvSpPr>
          <p:cNvPr id="10" name="Chevron 9"/>
          <p:cNvSpPr/>
          <p:nvPr/>
        </p:nvSpPr>
        <p:spPr>
          <a:xfrm>
            <a:off x="9509760" y="2011680"/>
            <a:ext cx="2130552" cy="1005840"/>
          </a:xfrm>
          <a:prstGeom prst="chevron">
            <a:avLst>
              <a:gd name="adj" fmla="val 35000"/>
            </a:avLst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답변+출처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383280"/>
            <a:ext cx="11091672" cy="219456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모델은 그대로, 문서를 검색해 근거로 보여준다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• 편람이 바뀌면? → 재학습 없이 재인제스트만 (최신성)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• '어디서 나온 답?' → 검색한 문서가 곧 출처 (금융 도메인 필수)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• 문서에 없으면 '확인되지 않음' 강제 → 환각 억제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94360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자주 바뀌는 사내문서 + 출처 의무 → 구조적으로 RAG가 유리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109728" cy="868680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03 · 정확도/근거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21792"/>
            <a:ext cx="10789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왜 벡터DB로 ChromaDB — 기준은 '폐쇄망 이식성'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2567178" cy="36576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Pinecone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클라우드 전용 SaaS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5803D"/>
                </a:solidFill>
                <a:latin typeface="맑은 고딕"/>
                <a:ea typeface="맑은 고딕"/>
                <a:cs typeface="맑은 고딕"/>
              </a:rPr>
              <a:t>👍 관리 불필요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👎 폐쇄망 반입 불가 → 탈락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90138" y="1920240"/>
            <a:ext cx="2567178" cy="36576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Milvus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분산 벡터DB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5803D"/>
                </a:solidFill>
                <a:latin typeface="맑은 고딕"/>
                <a:ea typeface="맑은 고딕"/>
                <a:cs typeface="맑은 고딕"/>
              </a:rPr>
              <a:t>👍 초대규모 대응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👎 서버·etcd 설치 복잡, PoC 과함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1920240"/>
            <a:ext cx="2567178" cy="36576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FAISS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검색 라이브러리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5803D"/>
                </a:solidFill>
                <a:latin typeface="맑은 고딕"/>
                <a:ea typeface="맑은 고딕"/>
                <a:cs typeface="맑은 고딕"/>
              </a:rPr>
              <a:t>👍 가볍고 빠름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👎 DB 아님 — 메타데이터 직접 구현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73134" y="1920240"/>
            <a:ext cx="2567178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✅ ChromaDB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파일기반 임베디드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5803D"/>
                </a:solidFill>
                <a:latin typeface="맑은 고딕"/>
                <a:ea typeface="맑은 고딕"/>
                <a:cs typeface="맑은 고딕"/>
              </a:rPr>
              <a:t>👍 설치 한 줄 + 폴더 복사=이식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👎 초대규모엔 부적합(PoC 충분)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94360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폐쇄망 배포는 '파일 복사'가 가장 강력 — 서버 없는 ChromaDB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109728" cy="868680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03 · 정확도/근거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21792"/>
            <a:ext cx="10789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검색 품질 ① 제목·본문 분리 임베딩 (vs 일반 RAG)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문제: 본문이 길수록 제목의 주제 신호가 희석 → '양도세' 같은 짧은 질문에 취약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3514344" cy="338328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본문만 임베딩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단일 컬렉션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5803D"/>
                </a:solidFill>
                <a:latin typeface="맑은 고딕"/>
                <a:ea typeface="맑은 고딕"/>
                <a:cs typeface="맑은 고딕"/>
              </a:rPr>
              <a:t>👍 단순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👎 긴 본문서 주제 매칭 약화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7304" y="2011680"/>
            <a:ext cx="3514344" cy="338328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제목+본문 합쳐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단일 컬렉션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5803D"/>
                </a:solidFill>
                <a:latin typeface="맑은 고딕"/>
                <a:ea typeface="맑은 고딕"/>
                <a:cs typeface="맑은 고딕"/>
              </a:rPr>
              <a:t>👍 단순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👎 가중치 조절 불가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5968" y="2011680"/>
            <a:ext cx="3514344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✅ 두 컬렉션 분리+가중병합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faq_titles / faq_contents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5803D"/>
                </a:solidFill>
                <a:latin typeface="맑은 고딕"/>
                <a:ea typeface="맑은 고딕"/>
                <a:cs typeface="맑은 고딕"/>
              </a:rPr>
              <a:t>👍 제목:본문 비율 튜닝 가능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👎 임베딩 2배·ID 정합 관리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일반 RAG는 보통 단일 컬렉션. 우리는 제목·본문 2컬렉션 가중병합(사람인 HR챗봇 87% 사례 참고).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109728" cy="868680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03 · 정확도/근거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21792"/>
            <a:ext cx="10789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검색 품질 ② Max Pooling + 동의어 확장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53949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329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다중 제목 → Max Pooling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문서 1개에 동의어 제목 여러 개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합산=제목 많은 문서 편향 ❌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평균=강한 일치 희석 ❌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✅ 최댓값: 가장 잘 맞은 제목 1개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순서: Max Pooling → 가중병합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828800"/>
            <a:ext cx="53949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동의어 확장(오프라인 사전)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'미국 주식'→'해외주식' 등 추가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임베딩·BM25 쿼리만 확장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LLM에 가는 원문 질문은 불변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결정적·오프라인(폐쇄망·재현)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데모 retrieval 미스 직접 수정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94360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동의어를 마음껏 추가해도 공정 — '튜닝 가능한 검색 구조'를 산다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109728" cy="868680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03 · 정확도/근거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21792"/>
            <a:ext cx="10789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검색 품질 ③ Hybrid Search (BM25 + 벡터 RRF)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3514344" cy="201168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250" b="1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hit@1 (16문항)</a:t>
            </a:r>
          </a:p>
          <a:p>
            <a:pPr algn="ctr">
              <a:spcAft>
                <a:spcPts val="500"/>
              </a:spcAft>
            </a:pPr>
            <a:r>
              <a:rPr sz="380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62 → 81%</a:t>
            </a:r>
          </a:p>
          <a:p>
            <a:pPr algn="ctr">
              <a:spcAft>
                <a:spcPts val="500"/>
              </a:spcAft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+19%p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37304" y="1920240"/>
            <a:ext cx="3514344" cy="201168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250" b="1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MRR</a:t>
            </a:r>
          </a:p>
          <a:p>
            <a:pPr algn="ctr">
              <a:spcAft>
                <a:spcPts val="500"/>
              </a:spcAft>
            </a:pPr>
            <a:r>
              <a:rPr sz="380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0.79 → 0.88</a:t>
            </a:r>
          </a:p>
          <a:p>
            <a:pPr algn="ctr">
              <a:spcAft>
                <a:spcPts val="500"/>
              </a:spcAft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+0.09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25968" y="1920240"/>
            <a:ext cx="3514344" cy="201168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250" b="1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정렬 vs 점수</a:t>
            </a:r>
          </a:p>
          <a:p>
            <a:pPr algn="ctr">
              <a:spcAft>
                <a:spcPts val="500"/>
              </a:spcAft>
            </a:pPr>
            <a:r>
              <a:rPr sz="3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분리</a:t>
            </a:r>
          </a:p>
          <a:p>
            <a:pPr algn="ctr">
              <a:spcAft>
                <a:spcPts val="500"/>
              </a:spcAft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RRF로 정렬, 점수는 벡터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206240"/>
            <a:ext cx="106070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• 벡터(의미) + BM25(키워드)를 RRF로 융합 → 고유명사·코드(K-OTC, [11124], OTP)에 강함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• confidence 임계값이 벡터 점수 기준이라, 정렬만 RRF로 바꾸고 score는 벡터 유사도 유지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• 한국어 문자 bigram 토크나이저(조사 무관 매칭). kiwipiepy는 한글경로 세그폴트로 제외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94360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의미검색만으로 약한 '정확한 단어' 질의를 키워드축이 보완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109728" cy="868680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03 · 정확도/근거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21792"/>
            <a:ext cx="10789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검색 품질 ④ 측정 기반 보정 · 출처 정합 · 선전송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11091672" cy="841248"/>
          </a:xfrm>
          <a:prstGeom prst="roundRect">
            <a:avLst>
              <a:gd name="adj" fmla="val 6000"/>
            </a:avLst>
          </a:prstGeom>
          <a:solidFill>
            <a:srgbClr val="FFF3EC"/>
          </a:solidFill>
          <a:ln w="19050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400" b="1">
                <a:solidFill>
                  <a:srgbClr val="D85C12"/>
                </a:solidFill>
                <a:latin typeface="맑은 고딕"/>
                <a:ea typeface="맑은 고딕"/>
                <a:cs typeface="맑은 고딕"/>
              </a:rPr>
              <a:t>confidence 재보정   </a:t>
            </a: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bge-m3 점수분포(정답1위 0.30~0.78) 실측 → 임계값 0.85/0.70 → 0.70/0.50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79776"/>
            <a:ext cx="11091672" cy="84124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 페이지 중복제거   </a:t>
            </a: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같은 페이지 청크가 top_k 독식 방지(페이지당 캡) → 출처 [n] 1:1 정합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30752"/>
            <a:ext cx="11091672" cy="84124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 선전송(SSE)   </a:t>
            </a: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검색 끝나면 출처·신뢰도 먼저 전송 → LLM 기다리지 않고 첫 응답 1초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681728"/>
            <a:ext cx="11091672" cy="84124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 추상화   </a:t>
            </a: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generate/stream/embed/count 4메서드 → 모델 교체 = 구현체 1개 + DI 1곳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94360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정확도는 모델이 아니라 '측정→보정' 루프에서 나온다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109728" cy="868680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03 · 정확도/근거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21792"/>
            <a:ext cx="10789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어떻게 측정했나 — 검색과 답변을 '분리' 측정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53949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329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① 검색 정확도 (retrieval)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정답 키워드/출처가 top-k 안에?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지표: hit@1 / hit@3 / hit@5 / MRR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30문항 평가셋(거래·계좌·수수료 등)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→ 리포트 파일로 '재현 가능'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828800"/>
            <a:ext cx="53949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② 답변 정확도 (generation)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생성 답변이 정답 사실을 담았나?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키워드 채점(공백무시) = 하한값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LLM 의미채점(--judge): 패러프레이즈 보정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→ '표현 달라도 의미 맞으면 정답'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도구: scripts/test_accuracy.py  ·  '검색 hit인데 답변 miss = 프롬프트 문제 / 검색 miss = 검색 문제'로 원인 분리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109728" cy="868680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03 · 정확도/근거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21792"/>
            <a:ext cx="10789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검색 정확도 — hit@3 100% (저장 리포트로 증빙)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2567178" cy="21031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250" b="1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hit@1</a:t>
            </a:r>
          </a:p>
          <a:p>
            <a:pPr algn="ctr">
              <a:spcAft>
                <a:spcPts val="500"/>
              </a:spcAft>
            </a:pPr>
            <a:r>
              <a:rPr sz="3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70%</a:t>
            </a:r>
          </a:p>
          <a:p>
            <a:pPr algn="ctr">
              <a:spcAft>
                <a:spcPts val="500"/>
              </a:spcAft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정답이 1순위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90138" y="2011680"/>
            <a:ext cx="2567178" cy="21031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250" b="1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hit@3</a:t>
            </a:r>
          </a:p>
          <a:p>
            <a:pPr algn="ctr">
              <a:spcAft>
                <a:spcPts val="500"/>
              </a:spcAft>
            </a:pPr>
            <a:r>
              <a:rPr sz="380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  <a:p>
            <a:pPr algn="ctr">
              <a:spcAft>
                <a:spcPts val="500"/>
              </a:spcAft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정답이 top-3 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2011680"/>
            <a:ext cx="2567178" cy="21031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250" b="1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hit@5</a:t>
            </a:r>
          </a:p>
          <a:p>
            <a:pPr algn="ctr">
              <a:spcAft>
                <a:spcPts val="500"/>
              </a:spcAft>
            </a:pPr>
            <a:r>
              <a:rPr sz="3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  <a:p>
            <a:pPr algn="ctr">
              <a:spcAft>
                <a:spcPts val="500"/>
              </a:spcAft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정답이 top-5 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73134" y="2011680"/>
            <a:ext cx="2567178" cy="21031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250" b="1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MRR</a:t>
            </a:r>
          </a:p>
          <a:p>
            <a:pPr algn="ctr">
              <a:spcAft>
                <a:spcPts val="500"/>
              </a:spcAft>
            </a:pPr>
            <a:r>
              <a:rPr sz="3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0.84</a:t>
            </a:r>
          </a:p>
          <a:p>
            <a:pPr algn="ctr">
              <a:spcAft>
                <a:spcPts val="500"/>
              </a:spcAft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평균 역순위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38912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• 30문항 평가셋, bge-m3 로컬 임베딩 기준. 정답 문서가 항상 검색 상위 3개 안에 든다.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• 정답 1위 top_score 분포 0.30~0.78(최댓값 0.78) → confidence 재보정의 근거.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근거 파일: data/eval/accuracy_bge_m3_search_20260613_095753.json (재현 가능)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109728" cy="868680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03 · 정확도/근거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21792"/>
            <a:ext cx="10789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답변 정확도 — LLM 의미채점 80% (방법론 + 재현)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53949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측정값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LLM 의미채점: 12/15 = 80%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키워드 채점(하한): 15/24 ≈ 63%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→ 키워드는 패러프레이즈를 못 잡음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→ 의미채점이 실제값에 더 근접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828800"/>
            <a:ext cx="53949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329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정직한 한계 표기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답변 정확도 100%는 불가(LLM 특성)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저신뢰 시 '확인되지 않음' 폴백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재현: test_accuracy.py --answers --judge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* 30문항 전수 재측정은 일일 무료한도로 보류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94360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검색은 '하드 증빙', 답변은 '방법론 + 재현 절차'로 정직하게 제시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109728" cy="868680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03 · 정확도/근거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21792"/>
            <a:ext cx="10789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일반적 RAG와 다르게 한 것 —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091672" cy="749808"/>
          </a:xfrm>
          <a:prstGeom prst="roundRect">
            <a:avLst>
              <a:gd name="adj" fmla="val 6000"/>
            </a:avLst>
          </a:prstGeom>
          <a:solidFill>
            <a:srgbClr val="FFF3EC"/>
          </a:solidFill>
          <a:ln w="19050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400" b="1">
                <a:solidFill>
                  <a:srgbClr val="D85C12"/>
                </a:solidFill>
                <a:latin typeface="맑은 고딕"/>
                <a:ea typeface="맑은 고딕"/>
                <a:cs typeface="맑은 고딕"/>
              </a:rPr>
              <a:t>① 제목·본문 2컬렉션   </a:t>
            </a: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주제 신호 보존 + 제목:본문 비율 튜닝(일반 RAG는 단일 컬렉션)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42616"/>
            <a:ext cx="11091672" cy="749808"/>
          </a:xfrm>
          <a:prstGeom prst="roundRect">
            <a:avLst>
              <a:gd name="adj" fmla="val 6000"/>
            </a:avLst>
          </a:prstGeom>
          <a:solidFill>
            <a:srgbClr val="FFF3EC"/>
          </a:solidFill>
          <a:ln w="19050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400" b="1">
                <a:solidFill>
                  <a:srgbClr val="D85C12"/>
                </a:solidFill>
                <a:latin typeface="맑은 고딕"/>
                <a:ea typeface="맑은 고딕"/>
                <a:cs typeface="맑은 고딕"/>
              </a:rPr>
              <a:t>② Max Pooling   </a:t>
            </a: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동의어 제목 다수에도 공정 — 합산/평균의 편향·희석 회피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502152"/>
            <a:ext cx="11091672" cy="749808"/>
          </a:xfrm>
          <a:prstGeom prst="roundRect">
            <a:avLst>
              <a:gd name="adj" fmla="val 6000"/>
            </a:avLst>
          </a:prstGeom>
          <a:solidFill>
            <a:srgbClr val="FFF3EC"/>
          </a:solidFill>
          <a:ln w="19050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400" b="1">
                <a:solidFill>
                  <a:srgbClr val="D85C12"/>
                </a:solidFill>
                <a:latin typeface="맑은 고딕"/>
                <a:ea typeface="맑은 고딕"/>
                <a:cs typeface="맑은 고딕"/>
              </a:rPr>
              <a:t>③ Hybrid(BM25+벡터)   </a:t>
            </a: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고유명사·코드 강함 — hit@1 62→81%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361688"/>
            <a:ext cx="11091672" cy="749808"/>
          </a:xfrm>
          <a:prstGeom prst="roundRect">
            <a:avLst>
              <a:gd name="adj" fmla="val 6000"/>
            </a:avLst>
          </a:prstGeom>
          <a:solidFill>
            <a:srgbClr val="FFF3EC"/>
          </a:solidFill>
          <a:ln w="19050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400" b="1">
                <a:solidFill>
                  <a:srgbClr val="D85C12"/>
                </a:solidFill>
                <a:latin typeface="맑은 고딕"/>
                <a:ea typeface="맑은 고딕"/>
                <a:cs typeface="맑은 고딕"/>
              </a:rPr>
              <a:t>④ 동의어 사전(오프라인)   </a:t>
            </a: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결정적·폐쇄망 친화 — 임베딩/BM25만 확장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221224"/>
            <a:ext cx="11091672" cy="749808"/>
          </a:xfrm>
          <a:prstGeom prst="roundRect">
            <a:avLst>
              <a:gd name="adj" fmla="val 6000"/>
            </a:avLst>
          </a:prstGeom>
          <a:solidFill>
            <a:srgbClr val="FFF3EC"/>
          </a:solidFill>
          <a:ln w="19050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400" b="1">
                <a:solidFill>
                  <a:srgbClr val="D85C12"/>
                </a:solidFill>
                <a:latin typeface="맑은 고딕"/>
                <a:ea typeface="맑은 고딕"/>
                <a:cs typeface="맑은 고딕"/>
              </a:rPr>
              <a:t>⑤ confidence 측정 재보정   </a:t>
            </a: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임베딩 점수분포 실측으로 임계값 보정 + 출처중복제거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근거: docs/ANSWER_QUALITY.md(적용/폐기 로그), docs/api-spec.md 섹션 3·10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109728" cy="868680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04 · LLM 한계/해결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21792"/>
            <a:ext cx="10789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한계 ① 환각 — '그럴듯하게 틀린 답'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53949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329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업계의 4단계 방어선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① 그라운딩(Vertex/Azure On Your Data)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② 출처 표기(Galileo Chunk Attribution)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③ 사후검증(NeMo Guardrails·Bedrock)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④ 거부/기권(Cleanlab TLM)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'오답은 기권보다 나쁘다'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828800"/>
            <a:ext cx="53949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우리 적용 / 향후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bge-m3 + confidence + 출처중복제거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저신뢰 시 '확인되지 않음' 폴백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향후: RAGAS Faithfulness 자동채점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향후: BGE Reranker v2(+15%p)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고위험 답변은 상담원 검토 유지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근거: OpenAI 'why LMs hallucinate', 스탠퍼드 법률RAG(잔존 17~33%) — RAG는 70~90%↓이나 0%는 아님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109728" cy="868680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04 · LLM 한계/해결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21792"/>
            <a:ext cx="10789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한계 ② 최신성 · ③ 도메인 정확도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53949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329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② 최신성(컷오프)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재학습 ❌ → RAG + 증분 재인덱싱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문서 변경 이벤트로 자동 갱신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2025 트렌드: Agentic RAG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시세·공시는 도구 호출로 우회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우리: 내부문서 RAG로 최신성 확보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828800"/>
            <a:ext cx="53949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③ 도메인 정확도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RAG=오픈북 / 파인튜닝=클로즈드북 / 가드레일=감독관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멀티에이전트 RAG 56% vs GPT-4 19%(FinanceBench)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→ '검색 설계 &gt; 모델 선택'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BloombergGPT(50B)도 GPT-4에 밀림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우리: RAG 우선, 향후 LoRA로 톤·포맷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근거: arxiv 2501.09136(Agentic RAG), Red Hat(RAG vs FT), intuitionlabs(FinanceBench)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109728" cy="868680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04 · LLM 한계/해결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21792"/>
            <a:ext cx="10789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한계 ④ 보안·규제·망분리 — 한국 특유의 최대 변수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11091672" cy="84124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규제 환경   </a:t>
            </a: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금융위 '망분리 개선 로드맵'(2024-08) — 74개사 141건 혁신금융 특례 신청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79776"/>
            <a:ext cx="11091672" cy="841248"/>
          </a:xfrm>
          <a:prstGeom prst="roundRect">
            <a:avLst>
              <a:gd name="adj" fmla="val 6000"/>
            </a:avLst>
          </a:prstGeom>
          <a:solidFill>
            <a:srgbClr val="FFF3EC"/>
          </a:solidFill>
          <a:ln w="19050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400" b="1">
                <a:solidFill>
                  <a:srgbClr val="D85C12"/>
                </a:solidFill>
                <a:latin typeface="맑은 고딕"/>
                <a:ea typeface="맑은 고딕"/>
                <a:cs typeface="맑은 고딕"/>
              </a:rPr>
              <a:t>국산 모델 선택지   </a:t>
            </a: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HyperCLOVA X(미래에셋 온프레미스) · EXAONE · Qwen3-30B(카카오뱅크) · Solar(신한DS)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30752"/>
            <a:ext cx="11091672" cy="84124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모델 선정 방법   </a:t>
            </a: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LG CNS 금융 AI 평가도구 — 29지표·1200문항으로 오픈모델 비교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681728"/>
            <a:ext cx="11091672" cy="84124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거버넌스   </a:t>
            </a: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휴먼인더루프 → governance-in-the-loop, 감사로그·추적성, 모델 캐스케이딩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94360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우리는 폐쇄망 이식형으로 설계 — '바꿀 곳은 답변 LLM 단 1곳'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109728" cy="868680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05 · 비전/실도입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21792"/>
            <a:ext cx="10789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비전 ① 데이터 허브 — 비정형 데이터를 답변DB로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현재: 업무편람(정형) 단일 소스  →  향후: 메일·메신저·엑셀·회의록까지 통합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11091672" cy="786384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일본 SMBC   </a:t>
            </a: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사내 규정·매뉴얼 약 130만 건 RAG 횡단검색 + 참조자료 병기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62072"/>
            <a:ext cx="11091672" cy="786384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일본 미즈호 / 일본생명   </a:t>
            </a: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사무수속 RAG 해결률 96% · 약관 Claude RAG 유효답변 90%(엑셀 병합셀 판독)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58184"/>
            <a:ext cx="11091672" cy="786384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국내 신한투자/미래에셋/키움   </a:t>
            </a: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사내문서 RAG · 온프레미스 sLLM(HCX-DASH) · 업무상담 챗봇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654296"/>
            <a:ext cx="11091672" cy="786384"/>
          </a:xfrm>
          <a:prstGeom prst="roundRect">
            <a:avLst>
              <a:gd name="adj" fmla="val 6000"/>
            </a:avLst>
          </a:prstGeom>
          <a:solidFill>
            <a:srgbClr val="FFF3EC"/>
          </a:solidFill>
          <a:ln w="19050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400" b="1">
                <a:solidFill>
                  <a:srgbClr val="D85C12"/>
                </a:solidFill>
                <a:latin typeface="맑은 고딕"/>
                <a:ea typeface="맑은 고딕"/>
                <a:cs typeface="맑은 고딕"/>
              </a:rPr>
              <a:t>기술 파이프라인   </a:t>
            </a: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파싱(OCR)→정규화→메타데이터(Contextual)→중복제거→PII마스킹→ACL 보존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출처: RESEARCH_NOTES_2026-06-20.md (SMBC dx-consultant, 미즈호/일본생명 IR, 각 사 보도)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109728" cy="868680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05 · 비전/실도입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21792"/>
            <a:ext cx="10789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비전 ② STT 연동 — 타이핑 없는 응대 지원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Chevron 5"/>
          <p:cNvSpPr/>
          <p:nvPr/>
        </p:nvSpPr>
        <p:spPr>
          <a:xfrm>
            <a:off x="548640" y="2103120"/>
            <a:ext cx="2130552" cy="1051560"/>
          </a:xfrm>
          <a:prstGeom prst="chevron">
            <a:avLst>
              <a:gd name="adj" fmla="val 35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고객 통화</a:t>
            </a:r>
          </a:p>
        </p:txBody>
      </p:sp>
      <p:sp>
        <p:nvSpPr>
          <p:cNvPr id="7" name="Chevron 6"/>
          <p:cNvSpPr/>
          <p:nvPr/>
        </p:nvSpPr>
        <p:spPr>
          <a:xfrm>
            <a:off x="2788920" y="2103120"/>
            <a:ext cx="2130552" cy="1051560"/>
          </a:xfrm>
          <a:prstGeom prst="chevron">
            <a:avLst>
              <a:gd name="adj" fmla="val 35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실시간 STT</a:t>
            </a:r>
          </a:p>
        </p:txBody>
      </p:sp>
      <p:sp>
        <p:nvSpPr>
          <p:cNvPr id="8" name="Chevron 7"/>
          <p:cNvSpPr/>
          <p:nvPr/>
        </p:nvSpPr>
        <p:spPr>
          <a:xfrm>
            <a:off x="5029200" y="2103120"/>
            <a:ext cx="2130552" cy="1051560"/>
          </a:xfrm>
          <a:prstGeom prst="chevron">
            <a:avLst>
              <a:gd name="adj" fmla="val 35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자동 질의 입력</a:t>
            </a:r>
          </a:p>
        </p:txBody>
      </p:sp>
      <p:sp>
        <p:nvSpPr>
          <p:cNvPr id="9" name="Chevron 8"/>
          <p:cNvSpPr/>
          <p:nvPr/>
        </p:nvSpPr>
        <p:spPr>
          <a:xfrm>
            <a:off x="7269480" y="2103120"/>
            <a:ext cx="2130552" cy="1051560"/>
          </a:xfrm>
          <a:prstGeom prst="chevron">
            <a:avLst>
              <a:gd name="adj" fmla="val 35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답변·출처 표시</a:t>
            </a:r>
          </a:p>
        </p:txBody>
      </p:sp>
      <p:sp>
        <p:nvSpPr>
          <p:cNvPr id="10" name="Chevron 9"/>
          <p:cNvSpPr/>
          <p:nvPr/>
        </p:nvSpPr>
        <p:spPr>
          <a:xfrm>
            <a:off x="9509760" y="2103120"/>
            <a:ext cx="2130552" cy="1051560"/>
          </a:xfrm>
          <a:prstGeom prst="chevron">
            <a:avLst>
              <a:gd name="adj" fmla="val 35000"/>
            </a:avLst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상담사는 응대에 집중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657600"/>
            <a:ext cx="106070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• 현재 UI에 STT 자리(🎙️)를 미리 배치 — 상담사가 타이핑하지 않아도 통화 내용이 질의로 입력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• 국내 콜센터 STT+AI 검색 결합 사례 다수 — 인프라(온프레미스 vs 클라우드)·성능 지표 참고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D85C12"/>
                </a:solidFill>
                <a:latin typeface="맑은 고딕"/>
                <a:ea typeface="맑은 고딕"/>
                <a:cs typeface="맑은 고딕"/>
              </a:rPr>
              <a:t>• 응대 중 손이 자유로워지고, 통화-답변 정합 로그가 그대로 학습 데이터가 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94360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STT는 '입력 자동화'이자 '데이터 수집'의 두 마리 토끼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109728" cy="868680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05 · 비전/실도입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21792"/>
            <a:ext cx="10789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폐쇄망 실도입 — 바꿀 곳은 단 1곳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11091672" cy="841248"/>
          </a:xfrm>
          <a:prstGeom prst="roundRect">
            <a:avLst>
              <a:gd name="adj" fmla="val 6000"/>
            </a:avLst>
          </a:prstGeom>
          <a:solidFill>
            <a:srgbClr val="FFF3EC"/>
          </a:solidFill>
          <a:ln w="19050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400" b="1">
                <a:solidFill>
                  <a:srgbClr val="D85C12"/>
                </a:solidFill>
                <a:latin typeface="맑은 고딕"/>
                <a:ea typeface="맑은 고딕"/>
                <a:cs typeface="맑은 고딕"/>
              </a:rPr>
              <a:t>LLM(답변생성)   </a:t>
            </a: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Gemini API  →  사내 LLM(Qwen3-30B / HyperCLOVA X / Solar 후보)  ★교체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79776"/>
            <a:ext cx="11091672" cy="84124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임베딩   </a:t>
            </a: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bge-m3(1024) 로컬 — 그대로(오프라인·무료)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30752"/>
            <a:ext cx="11091672" cy="84124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벡터DB   </a:t>
            </a: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ChromaDB 파일기반 — 폴더 복사로 이식 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681728"/>
            <a:ext cx="11091672" cy="84124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백엔드/UI   </a:t>
            </a: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FastAPI + React — 추상화 뒤라 변경 없음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39496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수집 자동 최신화: 변경감지→지문대조→청킹→로컬임베딩→ChromaDB (증분 임베딩 95%+ 절감)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94360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처음부터 폐쇄망을 보고 고른 선택 — PoC 시행착오가 그대로 실도입 매뉴얼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109728" cy="868680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05 · 비전/실도입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21792"/>
            <a:ext cx="10789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실환경 난관 — 이미 부딪히고 해결했다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11091672" cy="84124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사내망 SSL 인터셉트   </a:t>
            </a: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Zscaler 자체 CA → SSL_CERT_FILE/CA 번들 동기화(verify=False 안 씀)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79776"/>
            <a:ext cx="11091672" cy="84124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외부 의존 리스크   </a:t>
            </a: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API 크레딧 소진 경험 → LLM 추상화로 모델 교체 비용 최소화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30752"/>
            <a:ext cx="11091672" cy="84124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PDF 표·개조식 파싱   </a:t>
            </a: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Docling(표 구조 보존) + 한국어 개조식 번호 정규식 보강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681728"/>
            <a:ext cx="11091672" cy="84124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위키 증분 수집   </a:t>
            </a: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content-hash diff로 변경분만 임베딩(95%+ 호출 절감)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근거: docs/TROUBLESHOOTING.md, docs/adr/ (결정·대안·교훈 기록)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109728" cy="868680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05 · 비전/실도입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21792"/>
            <a:ext cx="10789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 효과 — 검색 시간 절감 ROI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3514344" cy="21031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250" b="1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편람 검색</a:t>
            </a:r>
          </a:p>
          <a:p>
            <a:pPr algn="ctr">
              <a:spcAft>
                <a:spcPts val="500"/>
              </a:spcAft>
            </a:pPr>
            <a:r>
              <a:rPr sz="380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300초 → 3초</a:t>
            </a:r>
          </a:p>
          <a:p>
            <a:pPr algn="ctr">
              <a:spcAft>
                <a:spcPts val="500"/>
              </a:spcAft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응답 체감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37304" y="2011680"/>
            <a:ext cx="3514344" cy="21031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250" b="1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분기 절감(추정)</a:t>
            </a:r>
          </a:p>
          <a:p>
            <a:pPr algn="ctr">
              <a:spcAft>
                <a:spcPts val="500"/>
              </a:spcAft>
            </a:pPr>
            <a:r>
              <a:rPr sz="3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2.7~3.8 M/M</a:t>
            </a:r>
          </a:p>
          <a:p>
            <a:pPr algn="ctr">
              <a:spcAft>
                <a:spcPts val="500"/>
              </a:spcAft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검색시간 35%↓ 가정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25968" y="2011680"/>
            <a:ext cx="3514344" cy="21031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250" b="1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분기 처리콜(예시)</a:t>
            </a:r>
          </a:p>
          <a:p>
            <a:pPr algn="ctr">
              <a:spcAft>
                <a:spcPts val="500"/>
              </a:spcAft>
            </a:pPr>
            <a:r>
              <a:rPr sz="3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78,546콜</a:t>
            </a:r>
          </a:p>
          <a:p>
            <a:pPr algn="ctr">
              <a:spcAft>
                <a:spcPts val="500"/>
              </a:spcAft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39명·38콜/일·53일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8912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산정: 39명 × 검색 1.8~2.5h/일 × 53영업일 × 35%↓ = 분기 1,300~1,810h ≈ 2.7~3.8 M/M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* 인력·콜 수는 예시 파라미터. 실도입 시 한화 실측치로 재산정.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94360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정성효과: 신입 온보딩 단축 · 응대 품질 균일화 · 지식 자산화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109728" cy="868680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05 · 비전/실도입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21792"/>
            <a:ext cx="10789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제안 — 단계별 도입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Chevron 5"/>
          <p:cNvSpPr/>
          <p:nvPr/>
        </p:nvSpPr>
        <p:spPr>
          <a:xfrm>
            <a:off x="548640" y="2103120"/>
            <a:ext cx="2130552" cy="1051560"/>
          </a:xfrm>
          <a:prstGeom prst="chevron">
            <a:avLst>
              <a:gd name="adj" fmla="val 35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PoC 검증</a:t>
            </a:r>
          </a:p>
        </p:txBody>
      </p:sp>
      <p:sp>
        <p:nvSpPr>
          <p:cNvPr id="7" name="Chevron 6"/>
          <p:cNvSpPr/>
          <p:nvPr/>
        </p:nvSpPr>
        <p:spPr>
          <a:xfrm>
            <a:off x="2788920" y="2103120"/>
            <a:ext cx="2130552" cy="1051560"/>
          </a:xfrm>
          <a:prstGeom prst="chevron">
            <a:avLst>
              <a:gd name="adj" fmla="val 35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응대 모드 확대</a:t>
            </a:r>
          </a:p>
        </p:txBody>
      </p:sp>
      <p:sp>
        <p:nvSpPr>
          <p:cNvPr id="8" name="Chevron 7"/>
          <p:cNvSpPr/>
          <p:nvPr/>
        </p:nvSpPr>
        <p:spPr>
          <a:xfrm>
            <a:off x="5029200" y="2103120"/>
            <a:ext cx="2130552" cy="1051560"/>
          </a:xfrm>
          <a:prstGeom prst="chevron">
            <a:avLst>
              <a:gd name="adj" fmla="val 35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AI코치/제보 운영</a:t>
            </a:r>
          </a:p>
        </p:txBody>
      </p:sp>
      <p:sp>
        <p:nvSpPr>
          <p:cNvPr id="9" name="Chevron 8"/>
          <p:cNvSpPr/>
          <p:nvPr/>
        </p:nvSpPr>
        <p:spPr>
          <a:xfrm>
            <a:off x="7269480" y="2103120"/>
            <a:ext cx="2130552" cy="1051560"/>
          </a:xfrm>
          <a:prstGeom prst="chevron">
            <a:avLst>
              <a:gd name="adj" fmla="val 35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④ 데이터허브·STT</a:t>
            </a:r>
          </a:p>
        </p:txBody>
      </p:sp>
      <p:sp>
        <p:nvSpPr>
          <p:cNvPr id="10" name="Chevron 9"/>
          <p:cNvSpPr/>
          <p:nvPr/>
        </p:nvSpPr>
        <p:spPr>
          <a:xfrm>
            <a:off x="9509760" y="2103120"/>
            <a:ext cx="2130552" cy="1051560"/>
          </a:xfrm>
          <a:prstGeom prst="chevron">
            <a:avLst>
              <a:gd name="adj" fmla="val 35000"/>
            </a:avLst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⑤ 폐쇄망 본도입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657600"/>
            <a:ext cx="106070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• 1단계: 현재 PoC를 한화 업무편람 일부로 검증(정확도·체감속도)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• 2~3단계: 응대 모드 실사용 + 오답 제보로 답변DB 품질 향상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• 4~5단계: 비정형 데이터 허브 + STT 연동, 사내 LLM으로 폐쇄망 본도입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94360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작게 검증하고, 데이터 선순환으로 키우고, 폐쇄망으로 안착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109728" cy="868680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05 · 비전/실도입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21792"/>
            <a:ext cx="10789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리스크 &amp; 완화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11091672" cy="84124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환각/오답   </a:t>
            </a: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출처표기 + confidence 게이트 + 오답제보 + 고위험 상담원 검토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79776"/>
            <a:ext cx="11091672" cy="84124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보안   </a:t>
            </a: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폐쇄망 온프레미스 + PII 마스킹 + ACL 보존(임베딩 단계)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30752"/>
            <a:ext cx="11091672" cy="84124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최신성   </a:t>
            </a: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변경 트리거 증분 재인덱싱 운영 규율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681728"/>
            <a:ext cx="11091672" cy="84124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정확도 전이   </a:t>
            </a: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벤더 수치는 참고 — 한화 코퍼스로 PoC 실측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모든 외부 인용 수치는 자체 발표값 — 한화 환경 실측으로 검증 권장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109728" cy="868680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마무리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21792"/>
            <a:ext cx="10789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한화 측에 요청드리는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11091672" cy="84124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접근   </a:t>
            </a: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업무편람·FAQ 일부 샘플(정확도 실측용) + (가능 시) 상담 로그 비식별 샘플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79776"/>
            <a:ext cx="11091672" cy="84124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STT 연동   </a:t>
            </a: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콜 인프라/녹취 연동 가능 범위 협의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30752"/>
            <a:ext cx="11091672" cy="84124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모델·인프라   </a:t>
            </a: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폐쇄망 GPU/사내 LLM 후보(HyperCLOVA X/Qwen/Solar) 및 망분리 정책 확인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681728"/>
            <a:ext cx="11091672" cy="84124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브랜딩   </a:t>
            </a:r>
            <a:r>
              <a:rPr sz="12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공식 로고/가이드(필요 시) — 현재는 텍스트 + 한화 오렌지로 구성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94360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>
              <a:spcAft>
                <a:spcPts val="5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작은 데이터로 빠르게 실측 → 효과를 숫자로 확인하고 다음 단계 결정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1554480"/>
            <a:ext cx="100584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세 줄 요약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 응대 + AI코치 + 오답제보 — 하나의 답변DB로 상담을 지원·훈련·개선한다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 정확도는 구조에서 나온다 — 2컬렉션·Max Pooling·Hybrid·측정 재보정 (검색 hit@3 100%)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 처음부터 폐쇄망 이식형 — 바꿀 곳은 답변 LLM 단 1곳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539496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C7D2E4"/>
                </a:solidFill>
                <a:latin typeface="맑은 고딕"/>
                <a:ea typeface="맑은 고딕"/>
                <a:cs typeface="맑은 고딕"/>
              </a:rPr>
              <a:t>Q&amp;A   |   근거: docs/api-spec.md · ANSWER_QUALITY.md · ONPREM_ROADMAP.md · RESEARCH_NOTES_2026-06-20.md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