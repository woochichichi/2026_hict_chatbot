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" cy="1554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고객사 공유회 ·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한화투자증권 AI 상담 어시스턴트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상담사를 돕고(응대) · 가르치고(코치) · 스스로 좋아지는(제보)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303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편람을 근거로 답하고, 출처까지 보여주는 상담 도우미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CA8BC"/>
                </a:solidFill>
                <a:latin typeface="맑은 고딕"/>
                <a:ea typeface="맑은 고딕"/>
                <a:cs typeface="맑은 고딕"/>
              </a:rPr>
              <a:t>증권 ITO팀  ·  발표 약 30분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오늘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30분 동안 이 순서로 말씀드립니다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01   왜 만들었나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상담 현장의 두 가지 문제 — 검색에 드는 시간, 신입 교육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42616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02   무엇을 만들었나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한눈에 보는 전체 그림 + 3가지 기능(응대·AI코치·제보)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93592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03   어떻게 작동하나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쉬운 비유로 원리 + (전문) 아키텍처·검색 기법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44568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04   얼마나 정확한가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정확도 수치와 '어떻게 쟀는지'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95544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05   한계와 앞으로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AI의 한계·해결 방향 + 데이터/음성 비전 + 도입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그림 — 이 한 장만 기억하셔도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상담사가 이렇게 씁니다</a:t>
            </a:r>
          </a:p>
          <a:p>
            <a:pPr algn="l">
              <a:spcAft>
                <a:spcPts val="500"/>
              </a:spcAft>
            </a:pPr>
            <a:r>
              <a:rPr sz="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💬 응대 모드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고객 응대 중 즉시 검색·답변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🎓 AI 코치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다양한 고객 상황을 연습·채점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⚑ 오답 제보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틀린 답 신고 → 품질 개선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3108960"/>
            <a:ext cx="640080" cy="548640"/>
          </a:xfrm>
          <a:prstGeom prst="rightArrow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2468880" cy="356616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AI 두뇌</a:t>
            </a:r>
          </a:p>
          <a:p>
            <a:pPr algn="ctr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 질문의 '의미'로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편람에서 근거 검색</a:t>
            </a:r>
          </a:p>
          <a:p>
            <a:pPr algn="ctr"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찾은 근거로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답변 생성 + 출처</a:t>
            </a:r>
          </a:p>
          <a:p>
            <a:pPr algn="ctr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(RAG 방식)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108960"/>
            <a:ext cx="640080" cy="548640"/>
          </a:xfrm>
          <a:prstGeom prst="rightArrow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지식 + 보안</a:t>
            </a:r>
          </a:p>
          <a:p>
            <a:pPr algn="l">
              <a:spcAft>
                <a:spcPts val="500"/>
              </a:spcAft>
            </a:pPr>
            <a:r>
              <a:rPr sz="5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📚 업무 편람(위키)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매일 자동 최신화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🔎 의미 검색 색인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회사 안에서 무료로 구동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🔒 폐쇄망 대비 설계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인터넷 없이도 동작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RAG: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편람을 '찾아 읽고' 답하는 방식(외워서가 아니라 오픈북 시험처럼)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폐쇄망: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보안을 위해 인터넷과 분리해 둔 사내 전용망(망분리)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01 · 왜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현장의 문제 — 검색에 쓰는 시간, 맨몸으로 배우는 신입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14344" cy="2286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고객 1건 응대 중 편람 검색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120~300초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숙련자도 직접 찾음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011680"/>
            <a:ext cx="3514344" cy="2286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신입이 혼자 응대까지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약 3개월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선배가 1:1로 붙어야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011680"/>
            <a:ext cx="3514344" cy="2286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지식이 흩어진 곳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여기저기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편람·FAQ·선배 머릿속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정답은 편람·FAQ·선배 머릿속에 흩어져 있어, 찾는 일 자체가 시간을 잡아먹습니다.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• 콜센터는 근무시간의 상당 부분을 '검색'에 씁니다 (McKinsey·IDC: 정보탐색에 근무시간 20~30%).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검색도 교육도 '사람의 시간'을 쓰는 구조 → AI로 응대 지원·훈련·품질개선을 함께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02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하나의 편람으로, 세 가지 쓰임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14344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💬 응대 모드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고객 응대 중 편람을 즉시 검색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질문 → 출처·신뢰도 먼저, 답변은 이어서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출처를 누르면 편람(위키)으로 바로 이동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1828800"/>
            <a:ext cx="3514344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🎓 AI 코치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다양한 고객 상황을 가정해 응대 연습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커리큘럼·복습으로 체계적 학습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응대를 점수·코칭으로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1828800"/>
            <a:ext cx="3514344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⚑ 오답 제보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답이 틀리면 상담사가 바로 신고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사유·정답 제안과 함께 축적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검토 → 편람/답변 개선 (쓸수록 좋아짐)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편람을 — 응대는 '검색→답변', 코치는 '연습→채점', 제보는 '신고→개선'으로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02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데모 ① 응대 모드 — 근거와 함께 답한다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화면에서 일어나는 일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상담사가 평소 말로 질문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검색 끝나면 '출처+신뢰도'가 먼저 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답변이 글자 단위로 이어서 표시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출처 카드를 누르면 위키 페이지로 이동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답이 이상하면 '오답 제보' 한 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상담사에게 좋은 점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근거(출처)를 보고 바로 신뢰·확인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편람에 없으면 '없다'고 정직하게 답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신뢰도(높음/보통/낮음)로 주의 환기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추후 음성(STT)으로 타이핑도 줄임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출처: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답변의 근거가 된 편람 페이지 — 눌러서 원문 확인 가능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신뢰도: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검색이 얼마나 확실한지 색으로 표시(높음/보통/낮음)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02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데모 ② AI 코치 — '어떤 고객이 올지 모른다'를 연습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체계적 학습 구조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고객 상황 8종(화남·급함·고령·불안 등)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난이도(초·중·고)별 시나리오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커리큘럼: 순서대로 / 랜덤: 실전 감각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복습: 틀린 것만 모아 다시(오답 노트)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고객 질문을 '음성'으로 읽어줌(TTS)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응대 후 받는 피드백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종합 점수 + 항목별 막대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포함/누락한 핵심 안내 표시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'다음엔 이렇게' 실행 코칭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모범 답변 + 편람 출처(링크)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페르소나: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유형(화난·급한·고령 고객 등)을 골라 상황을 가정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TTS: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글로 된 시나리오를 사람 목소리로 읽어주는 기술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02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데모 ③ 오답 제보 → 검토 — 쓸수록 좋아진다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의심</a:t>
            </a:r>
          </a:p>
        </p:txBody>
      </p:sp>
      <p:sp>
        <p:nvSpPr>
          <p:cNvPr id="7" name="Chevron 6"/>
          <p:cNvSpPr/>
          <p:nvPr/>
        </p:nvSpPr>
        <p:spPr>
          <a:xfrm>
            <a:off x="278892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번에 제보
(사유+정답제안)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축적</a:t>
            </a:r>
          </a:p>
        </p:txBody>
      </p:sp>
      <p:sp>
        <p:nvSpPr>
          <p:cNvPr id="9" name="Chevron 8"/>
          <p:cNvSpPr/>
          <p:nvPr/>
        </p:nvSpPr>
        <p:spPr>
          <a:xfrm>
            <a:off x="726948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운영자 검토</a:t>
            </a:r>
          </a:p>
        </p:txBody>
      </p:sp>
      <p:sp>
        <p:nvSpPr>
          <p:cNvPr id="10" name="Chevron 9"/>
          <p:cNvSpPr/>
          <p:nvPr/>
        </p:nvSpPr>
        <p:spPr>
          <a:xfrm>
            <a:off x="950976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편람·답변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제보 시 질문·답변·출처를 '그 순간 그대로' 저장 → 나중에 재현·추적 가능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검토 화면에서 미처리/처리완료로 관리, 외부 인터넷 없이 사내 파일로 보관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• 이 '신고→개선' 고리가 곧 데이터가 쌓일수록 똑똑해지는 선순환의 출발점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틀린 답을 '버그'가 아니라 '개선 데이터'로 바꾼다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" cy="12801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 · 어떻게 작동하나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먼저 쉬운 비유로, 그다음 전문적으로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03 · 어떻게 작동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쉽게 말하면 — '오픈북 시험을 보는 AI'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2011680"/>
            <a:ext cx="2130552" cy="109728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질문</a:t>
            </a:r>
          </a:p>
        </p:txBody>
      </p:sp>
      <p:sp>
        <p:nvSpPr>
          <p:cNvPr id="7" name="Chevron 6"/>
          <p:cNvSpPr/>
          <p:nvPr/>
        </p:nvSpPr>
        <p:spPr>
          <a:xfrm>
            <a:off x="2788920" y="2011680"/>
            <a:ext cx="2130552" cy="109728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질문의 '의미'로
편람에서 검색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2011680"/>
            <a:ext cx="2130552" cy="109728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관련 편람 몇 장
찾아오기</a:t>
            </a:r>
          </a:p>
        </p:txBody>
      </p:sp>
      <p:sp>
        <p:nvSpPr>
          <p:cNvPr id="9" name="Chevron 8"/>
          <p:cNvSpPr/>
          <p:nvPr/>
        </p:nvSpPr>
        <p:spPr>
          <a:xfrm>
            <a:off x="7269480" y="2011680"/>
            <a:ext cx="2130552" cy="109728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그것만 읽고
답 작성</a:t>
            </a:r>
          </a:p>
        </p:txBody>
      </p:sp>
      <p:sp>
        <p:nvSpPr>
          <p:cNvPr id="10" name="Chevron 9"/>
          <p:cNvSpPr/>
          <p:nvPr/>
        </p:nvSpPr>
        <p:spPr>
          <a:xfrm>
            <a:off x="9509760" y="2011680"/>
            <a:ext cx="2130552" cy="1097280"/>
          </a:xfrm>
          <a:prstGeom prst="chevron">
            <a:avLst>
              <a:gd name="adj" fmla="val 35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+ 출처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핵심: AI가 '외워서' 답하지 않습니다. 매번 편람을 '찾아 읽고' 답합니다.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편람이 바뀌면? → AI를 다시 가르칠 필요 없이, 새 편람만 넣으면 끝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'어디서 나온 답?' → 찾아 읽은 편람이 곧 출처 (금융에선 필수)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편람에 없으면 '없다'고 답하게 만들어 → 그럴듯한 거짓말(환각) 억제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환각: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사실이 아닌데도 그럴듯하게 지어내는 현상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03 · 어떻게 작동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(전문) 시스템 구성 — 폐쇄망 이식을 전제로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182880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상담사 화면
(React)</a:t>
            </a:r>
          </a:p>
        </p:txBody>
      </p:sp>
      <p:sp>
        <p:nvSpPr>
          <p:cNvPr id="7" name="Chevron 6"/>
          <p:cNvSpPr/>
          <p:nvPr/>
        </p:nvSpPr>
        <p:spPr>
          <a:xfrm>
            <a:off x="2788920" y="182880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FastAPI
(서버)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182880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의미 검색
(ChromaDB)</a:t>
            </a:r>
          </a:p>
        </p:txBody>
      </p:sp>
      <p:sp>
        <p:nvSpPr>
          <p:cNvPr id="9" name="Chevron 8"/>
          <p:cNvSpPr/>
          <p:nvPr/>
        </p:nvSpPr>
        <p:spPr>
          <a:xfrm>
            <a:off x="7269480" y="182880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생성
(LLM)</a:t>
            </a:r>
          </a:p>
        </p:txBody>
      </p:sp>
      <p:sp>
        <p:nvSpPr>
          <p:cNvPr id="10" name="Chevron 9"/>
          <p:cNvSpPr/>
          <p:nvPr/>
        </p:nvSpPr>
        <p:spPr>
          <a:xfrm>
            <a:off x="9509760" y="182880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출처+답변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091672" cy="60350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프론트  React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응대/AI코치/제보검토 3화면, 출처·음성·마크다운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11091672" cy="60350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백엔드  FastAPI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검색·채점·제보 로직 분리, 모델 호출 창구 통일(교체 대비)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26864"/>
            <a:ext cx="11091672" cy="60350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 ChromaDB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의미검색 색인. 파일 기반 → 폴더 복사만으로 이식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0096"/>
            <a:ext cx="11091672" cy="603504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임베딩  bge-m3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회사 안에서 무료·오프라인 구동(의미를 숫자로). 생성 LLM만 교체 지점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임베딩: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글의 '의미'를 숫자로 바꿔 비슷한 내용을 찾게 하는 기술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LLM: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사람처럼 글을 이해·생성하는 거대 AI(예: Gemini, 사내모델)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03 · 어떻게 작동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정확도를 높인 검색 기법 — 일반적 방식과 다른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제목·본문 따로 보기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제목과 본문을 따로 비교 → 짧은 질문(예: '양도세')에도 정확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같은 문서 중복 정리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여러 표현을 달아도 한 문서가 부당하게 유리해지지 않게(Max Pooling)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의미+단어 동시 검색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의미검색에 키워드검색을 더함 → 'K-OTC','OTP' 같은 고유명사 강함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동의어 자동 보강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'미국주식→해외주식' 등 사내 용어를 미리 연결(오프라인 사전)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신뢰도 자동 보정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실측 점수 분포로 '높음/보통/낮음' 기준을 데이터로 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* 일반 챗봇은 보통 한 가지 방식만 씁니다. 우리는 5가지를 조합해 검색 정확도를 끌어올렸습니다.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" cy="12801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 · 얼마나 정확한가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수치보다 '어떻게 쟀는지'가 중요합니다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04 · 얼마나 정확한가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어떻게 쟀나 — 검색과 답변을 '나눠서' 측정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① 검색 정확도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질문의 정답 문서가 검색 상위에 들어오나?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지표: 정답이 상위 3개 안에 든 비율(hit@3)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30문항 평가셋으로 측정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→ 측정 결과 파일로 '재현 가능'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② 답변 정확도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생성된 답변이 정답 내용을 담았나?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사람 대신 AI가 '의미로' 채점(표현 달라도 OK)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→ '단어만 같은지'가 아니라 '뜻이 맞는지'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측정 방법이 정해져 있어 반복 측정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hit@3: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 문서가 검색 결과 상위 3개 안에 든 비율(높을수록 좋음)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평가셋: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정답을 미리 정해 둔 시험 문제 묶음(여기선 30문항)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04 · 얼마나 정확한가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정확도 — 정답을 거의 항상 찾아온다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67178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hit@1 (1순위 정답)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정답이 맨 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138" y="2011680"/>
            <a:ext cx="2567178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hit@3 (상위 3개 안)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정답이 top-3 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011680"/>
            <a:ext cx="2567178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hit@5 (상위 5개 안)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정답이 top-5 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3134" y="2011680"/>
            <a:ext cx="2567178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MRR (평균 순위 점수)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0.84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1에 가까울수록 좋음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30문항 기준, 정답 편람이 '항상' 검색 상위 3개 안에 들어옵니다(hit@3 100%).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• 측정 결과는 파일로 저장되어 그대로 재현·검증할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근거: data/eval/accuracy_bge_m3_search_*.json (30문항, 회사 안 로컬 검색 기준)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04 · 얼마나 정확한가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답변 정확도 — 숫자보다 '방법'을 정직하게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AI 의미 채점: 12/15 = 80%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단어만 보는 채점(하한)은 더 낮게 나옴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→ 표현이 다른 정답을 놓치기 때문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→ 그래서 '의미 채점'이 더 정확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정직한 한계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답변 정확도 100%는 불가능(AI 특성)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확실치 않으면 '확인되지 않음'으로 답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고위험 답변은 사람(상담원)이 최종 확인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측정 방법이 문서화되어 언제든 재측정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검색은 '하드 증빙', 답변은 '방법론+재현'으로 — 과장 없이 보여드립니다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" cy="12801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AI의 한계, 업계의 해결, 그리고 우리의 비전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 ① 환각 — '그럴듯하게 틀린 답'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업계의 방어 4단계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① 편람 안에서만 답하게(그라운딩)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② 답에 출처를 꼭 붙이기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③ 생성 후 근거와 맞는지 재확인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④ 자신 없으면 '모른다'로 거부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'오답은 모른다고 하는 것보다 나쁘다'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우리 적용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편람 근거 + 출처 + 신뢰도 + 거부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오답 제보로 사람이 교정(휴먼인더루프)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향후: 답변 근거 일치 자동 점검(RAGAS)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현실: RAG도 환각을 70~90%만 줄임 → 사람 검토 병행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근거: OpenAI 'why LMs hallucinate', 스탠퍼드 법률RAG(잔존 17~33%) — RESEARCH_NOTES 참조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 ② 최신성 · ③ 전문성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② 최신성(옛 정보)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AI는 학습 시점 이후를 모름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해결: 다시 가르치지 않고 '편람을 갱신'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변경분만 매일 자동 반영(증분)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시세·공시는 도구 연결로 보완(향후)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③ 전문성(증권 도메인)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범용 AI는 증권 약관·수치에 약함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RAG(편람 검색)로 정확도 확보가 1순위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검색 설계가 모델보다 중요(연구: 56% vs 19%)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향후: 응대 말투·포맷만 가볍게 미세조정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근거: Agentic RAG(arXiv 2501.09136), FinanceBench, Red Hat RAG vs Fine-tuning — RESEARCH_NOTES 참조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 ④ 보안·망분리 — 한국 금융 특유의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규제 환경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금융위 '망분리 개선 로드맵'(2024-08) — 74개사 141건 혁신금융 특례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9776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국산 모델 선택지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HyperCLOVA X(미래에셋 온프레미스)·EXAONE·Qwen3(카카오뱅크)·Solar(신한DS)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30752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핵심 설계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처음부터 폐쇄망 이식형 — 인터넷 없이 사내에서 구동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81728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거버넌스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 검토(휴먼인더루프) + 출처 추적성 + 감사 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우리는 폐쇄망을 보고 설계 — 도입 시 '바꿀 곳은 답변 AI 단 1곳'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비전 ① 데이터 허브 — 흩어진 데이터를 답변으로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지금: 업무편람 한 가지  →  앞으로: 메일·메신저·엑셀·회의록까지 모아 답변 DB로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일본 SMBC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 규정·매뉴얼 130만 건을 AI로 통합 검색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62072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일본 미즈호 / 일본생명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사무수속 RAG 해결률 96% · 약관 RAG 유효답변 90%(엑셀 표까지 판독)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58184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국내 신한투자·미래에셋·키움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사내문서 RAG · 온프레미스 사내 AI 챗봇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54296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기술 흐름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수집 → 정리 → 핵심표시 → 중복제거 → 개인정보 가림 → 권한 보존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출처: RESEARCH_NOTES_2026-06-20.md (각 사 IR/보도). 비IT 요약: '회사의 흩어진 지식을 한곳에서 답하게'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비전 ② 음성 연동 — 듣고(STT) 말하는(TTS) 상담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STT — 통화를 글로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고객 통화를 실시간으로 받아쓰기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상담사가 타이핑 없이 자동 질의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응대에 더 집중, 통화-답변 기록도 축적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TTS — 시나리오를 음성으로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AI 코치의 고객 질문을 목소리로 재생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고객 유형별 말투(화남·고령 등) 반영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엔진 교체형: 사내 음성엔진으로 대체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150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쉬운 풀이  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STT: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 말을 글자로 바꾸는 기술(받아쓰기)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· TTS: </a:t>
            </a: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글자를 사람 목소리로 바꾸는 기술(읽어주기)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실도입(폐쇄망) — 바꿀 곳은 단 한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90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D85C12"/>
                </a:solidFill>
                <a:latin typeface="맑은 고딕"/>
                <a:ea typeface="맑은 고딕"/>
                <a:cs typeface="맑은 고딕"/>
              </a:rPr>
              <a:t>답변 생성 AI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외부 API → 사내 모델(예: Qwen3 / HyperCLOVA X / Solar)  ★여기만 교체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9776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의미 검색 색인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회사 안 로컬(bge-m3) — 그대로 (무료·오프라인)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30752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저장소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파일 기반 ChromaDB — 폴더 복사로 이식 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81728"/>
            <a:ext cx="11091672" cy="8412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화면·서버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React + FastAPI — 변경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편람은 매일 자동 최신화(변경분만 반영) → 운영 부담 최소, 외부 인터넷 의존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효과 — 검색 시간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14344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편람 검색 체감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300초 → 3초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응답 속도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103120"/>
            <a:ext cx="3514344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분기 절감(추정)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2.7~3.8 M/M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검색시간 35%↓ 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103120"/>
            <a:ext cx="3514344" cy="2103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정성 효과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균일한 품질</a:t>
            </a:r>
          </a:p>
          <a:p>
            <a:pPr algn="ctr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신입 온보딩↓·지식 자산화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산정 예시: 39명 × 검색 1.8~2.5h/일 × 53영업일 × 35%↓ ≈ 분기 2.7~3.8 M/M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* 인력·콜 수는 예시 파라미터. 실도입 시 한화 실측치로 재산정.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M/M = Man-Month(한 사람이 한 달 일하는 양) — 분기당 약 3명 분의 시간 절약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05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 — 단계별 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219456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PoC 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2788920" y="219456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응대 모드 확대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219456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코치·제보 운영</a:t>
            </a:r>
          </a:p>
        </p:txBody>
      </p:sp>
      <p:sp>
        <p:nvSpPr>
          <p:cNvPr id="9" name="Chevron 8"/>
          <p:cNvSpPr/>
          <p:nvPr/>
        </p:nvSpPr>
        <p:spPr>
          <a:xfrm>
            <a:off x="7269480" y="219456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데이터허브·음성</a:t>
            </a:r>
          </a:p>
        </p:txBody>
      </p:sp>
      <p:sp>
        <p:nvSpPr>
          <p:cNvPr id="10" name="Chevron 9"/>
          <p:cNvSpPr/>
          <p:nvPr/>
        </p:nvSpPr>
        <p:spPr>
          <a:xfrm>
            <a:off x="9509760" y="219456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폐쇄망 본도입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작게 검증(한화 편람 일부) → 효과를 숫자로 확인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응대 실사용 + 오답 제보로 답변 품질을 키움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비정형 데이터·음성 연동, 사내 모델로 폐쇄망 안착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작게 검증하고, 데이터로 키우고, 폐쇄망으로 안착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한화 측에 요청드리는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샘플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업무편람·FAQ 일부(정확도 실측용) + (가능 시) 상담 로그 비식별 샘플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98648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음성 연동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콜 인프라/녹취 연동 가능 범위 협의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77056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모델·인프라 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폐쇄망 GPU·사내 모델 후보(HyperCLOVA X/Qwen/Solar)·망분리 정책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작은 데이터로 빠르게 실측 → 효과를 숫자로 확인하고 다음 단계 결정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참고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용어 사전 — 쉬운 한 줄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편람을 찾아 읽고 답하는 방식(오픈북 시험처럼)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96312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사람처럼 글을 이해·생성하는 거대 AI(예: Gemini)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92424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임베딩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글의 '의미'를 숫자로 바꿔 비슷한 내용을 찾게 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88536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벡터DB(ChromaDB)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의미로 검색하는 색인 저장소(파일로 이식 가능)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84648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bge-m3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회사 안에서 무료로 돌리는 의미검색용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폐쇄망(망분리)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보안 위해 인터넷과 분리한 사내 전용망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96312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환각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사실이 아닌데 그럴듯하게 지어내는 현상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92424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출처/신뢰도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답의 근거 편람 / 검색이 얼마나 확실한지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288536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hit@3 / MRR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정답이 상위 3개 안에 든 비율 / 평균 순위 점수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184648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STT / TTS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말→글 받아쓰기 / 글→말 읽어주기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10058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세 줄 요약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 상담을 돕고(응대)·가르치고(코치)·스스로 좋아지는(제보) AI — 하나의 편람으로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 정확도는 구조에서 나온다 — 검색 hit@3 100%, 출처로 신뢰 확보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 처음부터 폐쇄망 이식형 — 도입 시 바꿀 곳은 답변 AI 단 1곳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94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Q&amp;A   ·   상세 근거: docs/api-spec.md · ANSWER_QUALITY.md · ONPREM_ROADMAP.md · RESEARCH_NOTES_2026-06-20.md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