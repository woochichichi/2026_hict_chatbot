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25"/>
    <p:sldId id="262" r:id="rId8"/>
    <p:sldId id="263" r:id="rId9"/>
    <p:sldId id="276" r:id="rId26"/>
    <p:sldId id="277" r:id="rId27"/>
    <p:sldId id="278" r:id="rId28"/>
    <p:sldId id="279" r:id="rId29"/>
    <p:sldId id="280" r:id="rId30"/>
    <p:sldId id="264" r:id="rId10"/>
    <p:sldId id="265" r:id="rId11"/>
    <p:sldId id="266" r:id="rId12"/>
    <p:sldId id="274" r:id="rId24"/>
    <p:sldId id="267" r:id="rId13"/>
    <p:sldId id="268" r:id="rId14"/>
    <p:sldId id="269" r:id="rId15"/>
    <p:sldId id="270" r:id="rId16"/>
    <p:sldId id="271" r:id="rId17"/>
    <p:sldId id="281" r:id="rId31"/>
    <p:sldId id="273" r:id="rId18"/>
    <p:sldId id="282" r:id="rId32"/>
    <p:sldId id="283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5E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13"/>
    <p:restoredTop sz="94610"/>
  </p:normalViewPr>
  <p:slideViewPr>
    <p:cSldViewPr snapToGrid="0" snapToObjects="1">
      <p:cViewPr>
        <p:scale>
          <a:sx n="83" d="100"/>
          <a:sy n="83" d="100"/>
        </p:scale>
        <p:origin x="1704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2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64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오프닝 1분. 본 제안은 상담 인력을 줄이는 목적이 아니라, 상담 지식을 출처 기반으로 즉시 활용해 처리량과 품질을 높이는 AX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발표는 문제, 솔루션, 기술 구조, 기대효과, 실행안 순서입니다. 기술 설명은 경영진이 이해할 수 있도록 상담 업무 효과와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한 줄 요약입니다. 비IT 청중에겐 숫자로 말합니다 — 편람검색 120~300초가 3초로, 검색 정확도 100%, 그리고 연 14,828시간(약 7.4명분)의 여력이 생깁니다. 인력 감축이 아니라 같은 인력으로 더 빠르고 정확하게, 더 많이 처리하는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상담센터의 병목은 사람이 모르는 것이 아니라 필요한 기준을 빠르고 일관되게 찾기 어렵다는 점입니다. 금융 상담에서는 출처가 특히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범위는 세 가지입니다. ① 답변검색(추천멘트·출처 위키링크 포함), ② 업무편람 RAG, ③ AI 코치(페르소나 8종·시나리오 뱅크·복습 — 선배 없이 반복 훈련)입니다. 모두 PoC에서 구현·검증했고, 초기 도입은 상담원 보조로 제한합니다.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상담원은 AI 답변을 그대로 읽는 것이 아니라, 근거를 먼저 보고 답변을 검토합니다. 이 구조가 금융 상담에서 신뢰성을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참고 자료의 핵심 구조입니다. 원문을 그대로 넣는 것이 아니라 검색 가능한 조각과 메타데이터로 바꿉니다. 어떤 소스가 오든 공통 규격으로 변환되면 후단은 재사용됩니다.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벡터만 쓰면 고유명사와 코드성 검색이 약해질 수 있습니다. 따라서 BM25와 벡터 검색을 병행하고 결과를 병합합니다.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실데이터 PoC 수치입니다. 위키 520페이지 수집, 대표 50페이지 1,281청크 적재, Hybrid hit@1 62%→81%, bge-m3 hit@3 100%(30문항), 증분 갱신 시 임베딩 호출 95%+ 절감입니다. 핵심: 검색 정확도는 100%, 답변(생성) 정확도는 80%(15문항)이며, 틀려도 모든 답에 출처가 붙어 상담원이 즉시 검증합니다. 남은 20%는 프롬프트 개선 여지입니다.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실도입 구조는 화면, API, RAG, 저장소, 모델 계층을 분리해야 합니다. 이렇게 해야 폐쇄망 모델 전환과 운영 품질 관리가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금융권 실도입은 기능보다 보안 구조가 먼저입니다. 외부 API를 전제로 고정하지 않고 로컬 임베딩과 자체 LLM 전환 가능성을 열어둡니다.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경영진 핵심 효과 장표입니다. 다섯 효과를 시간·금액으로 연결하고, 하단에서 총효과 3.71억, 운영비 1.45억, 순효과 2.26억, 운영 ROI 156%, 인력환산 약 7.4명분을 한눈에 보입니다. ROI.MD 기준(고객센터 50명, 지점 제외)의 보수적 산정이며, 인력 감축이 아니라 처리량·품질을 높이는 성장 여력 확보가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ROI 산정 로직 보조 장표입니다. 효과와 비용을 분리해서 봐야 합니다. (3.71억-1.45억)÷1.45억=156%. 구축비는 1회성, 운영 ROI는 매년 반복됩니다. 지점 인력을 제외한 보수적 기준이라, 적용 범위를 넓히면 효과는 더 커집니다.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우리 자체 실행 로드맵입니다. 현재(6월) PoC 측정 완료 → 7월 사내 상시 운영·매일 자동 갱신으로 완성 → 8월 GPU 갖춰 완전 사내(native) 전환 → 9월 고객사 선제안·도입 협의입니다. 작게 시작해 운영 전환까지 보이도록 설계했습니다. (다음 장 S16~17은 고객사 도입 시 운영체계·성공기준입니다.)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AI 시스템은 한 번 만들고 끝나는 것이 아니라, 계속 바뀌는 지식을 반영해야 합니다. 지식 갱신과 회귀 테스트, 출처 감사가 운영 품질의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성공 기준은 사전에 합의해야 합니다. 정확도, 속도, 출처, 업무 효과, 사용성, 운영성을 함께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/>
                <a:ea typeface="Noto Sans KR"/>
                <a:cs typeface="Noto Sans KR"/>
              </a:rPr>
              <a:t>질의응답에서는 보안, 정확도, ROI 산정 기준, 파일럿 범위를 중심으로 답변합니다.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Noto Sans KR"/>
                <a:ea typeface="Noto Sans KR"/>
                <a:cs typeface="Noto Sans KR"/>
              </a:rPr>
              <a:t>비전 장표입니다. 지금은 업무편람(정형) 단일 RAG로 구현 완료(PoC 검증)했고, 같은 구조가 그대로 확장됩니다. 다음 단계는 게시판·파일서버·PDF 통합, 비전은 메일·메신저·엑셀·회의록까지 ACL 보존+PII 마스킹한 개인별 데이터 허브입니다. Agentic RAG와 국산 금융 LLM 전환도 향후 비전입니다. ②③과 하단은 모두 '아직 미구현 비전'임을 분명히 말합니다 — 과약속하지 않습니다.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emf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960848-FFA7-2B50-B3F3-FC356CF87C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70957" y="710130"/>
            <a:ext cx="1785613" cy="7180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417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한화시스템 · 2026 상반기 AX 추진 ITEM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2A2A2A"/>
                </a:solidFill>
                <a:latin typeface="맑은 고딕"/>
                <a:ea typeface="맑은 고딕"/>
              </a:rPr>
              <a:t>상반기 AX 추진 ITEM 공유 &amp; 고객사 AX 동행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65656"/>
                </a:solidFill>
                <a:latin typeface="맑은 고딕"/>
                <a:ea typeface="맑은 고딕"/>
              </a:rPr>
              <a:t>한화시스템이 직접 수행한 RAG PoC 사례로, 고객사 AX 과제를 함께 발굴합니다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29768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498848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6600"/>
                </a:solidFill>
                <a:latin typeface="맑은 고딕"/>
                <a:ea typeface="맑은 고딕"/>
              </a:rPr>
              <a:t>출처 기반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646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65656"/>
                </a:solidFill>
                <a:latin typeface="맑은 고딕"/>
                <a:ea typeface="맑은 고딕"/>
              </a:rPr>
              <a:t>모든 답변에 근거 문서를 부착해, 임원이 신뢰하고 결재할 수 있는 AI를 구현했습니다.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429768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4498848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6600"/>
                </a:solidFill>
                <a:latin typeface="맑은 고딕"/>
                <a:ea typeface="맑은 고딕"/>
              </a:rPr>
              <a:t>폐쇄망 전환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48646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65656"/>
                </a:solidFill>
                <a:latin typeface="맑은 고딕"/>
                <a:ea typeface="맑은 고딕"/>
              </a:rPr>
              <a:t>외부 API를 걷어내고 로컬 모델로 전환 — 망분리 환경에서도 그대로 작동을 검증했습니다.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29768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4498848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6600"/>
                </a:solidFill>
                <a:latin typeface="맑은 고딕"/>
                <a:ea typeface="맑은 고딕"/>
              </a:rPr>
              <a:t>공동 과제 발굴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8646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65656"/>
                </a:solidFill>
                <a:latin typeface="맑은 고딕"/>
                <a:ea typeface="맑은 고딕"/>
              </a:rPr>
              <a:t>제품 납품이 아닌, 고객사 데이터에서 AX 과제를 함께 찾는 동행을 제안합니다.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8932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2026.06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1052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63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>
                <a:solidFill>
                  <a:srgbClr val="8C8C89"/>
                </a:solidFill>
                <a:latin typeface="맑은 고딕"/>
                <a:ea typeface="맑은 고딕"/>
              </a:rPr>
              <a:t>RAG: AI가 답을 지어내지 않고 사내 문서에서 근거를 먼저 찾아 답하는 방식. AX: AI 기반 업무 전환.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AGENDA · 오늘 함께 볼 8가지: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사례에서 시작해, 고객사 AX 과제로 이어집니다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검증된 사례 → 극복한 난점 → 고객사에 어떻게 재현할지 순서로 말씀드립니다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56231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37943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왜 지금 AX인가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139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흩어진 사내 지식이 비용이 되는 시점, 금융권이 AX로 움직이는 이유를 짚습니다.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19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4175" y="1856231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6511" y="1837943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우리가 만든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139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편람을 출처 달린 답변으로 바꾼 RAG PoC의 실체를 소개합니다.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862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99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980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시연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282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질문을 던지면 근거 문서와 함께 답이 나오는 과정을 실제 화면으로 보여드립니다.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862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4175" y="2999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6511" y="2980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기술 난점 → 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3282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폐쇄망·인증·증분 갱신 등 5가지 난점을 어떻게 풀었는지 공유합니다.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005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142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123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PoC 시사점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425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환각·최신성·도메인 정확도 등 LLM 한계와 대응 원칙을 정리합니다.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005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4175" y="4142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6511" y="4123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성과 근거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4175" y="4425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검색 정확도, 답변 정확도, 비용 절감을 실측 수치로 제시합니다.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148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285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5266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확장 = 다음 과제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5568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같은 파이프라인이 고객사 비정형 데이터에 어떻게 확장되는지 그립니다.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148072"/>
            <a:ext cx="52088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4175" y="52852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6511" y="5266944"/>
            <a:ext cx="4431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함께 할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4175" y="5568696"/>
            <a:ext cx="482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9" b="0">
                <a:solidFill>
                  <a:srgbClr val="565656"/>
                </a:solidFill>
                <a:latin typeface="맑은 고딕"/>
                <a:ea typeface="맑은 고딕"/>
              </a:rPr>
              <a:t>설명회 이후 AX 과제를 함께 발굴하기 위한 다음 단계를 제안드립니다.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6236208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앞쪽 절반은 '한화시스템이 해낸 일', 뒤쪽 절반은 '함께 할 일'입니다.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EXECUTIVE SUMMARY · 한 장 요약: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검증된 사례, 입증된 역량, 그리고 동행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세 가지만 기억하시면 오늘 내용의 핵심입니다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737360"/>
            <a:ext cx="334457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1167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① 사례 — 직접 만든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578608"/>
            <a:ext cx="288737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출처 부착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999232"/>
            <a:ext cx="2887370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업무편람 520페이지를 수집하고, AI가 출처와 함께 답하도록 직접 만들어 수치로 검증했습니다.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3562" y="1737360"/>
            <a:ext cx="3344570" cy="329184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2162" y="201167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② 역량 — 폐쇄망 5가지 난점 극복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2162" y="2578608"/>
            <a:ext cx="288737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임베딩 비용 95%+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2162" y="2999232"/>
            <a:ext cx="2887370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Python 없는 PC, 위키 인증, 반복 재처리 등 현장 난점을 모두 부딪혀 풀었습니다. 망분리 환경 이식 완료.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2452" y="1737360"/>
            <a:ext cx="334457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1052" y="201167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③ 동행 — 고객사 데이터로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1052" y="2578608"/>
            <a:ext cx="288737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검색 hit@3 100%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1052" y="2999232"/>
            <a:ext cx="2887370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위키에만 묶이지 않습니다. 메일·회의록·매뉴얼 등 흩어진 지식에 같은 방식으로 확장됩니다.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6636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오늘의 제안은 '제품 납품'이 아니라, 검증된 패턴으로 고객사 AX 과제를 함께 발굴하는 동행입니다.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배경: 병목은 상담원이 아니라 지식 접근 방식입니다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- 4 -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" y="1417320"/>
            <a:ext cx="2377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상담 지식 운영의 어려움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1828800"/>
            <a:ext cx="58414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2688" y="1984248"/>
            <a:ext cx="3474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194767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분산된 지식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816352" y="1938528"/>
            <a:ext cx="3511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업무편람, 위키, 공지, 메신저 내용이 여러 위치에 흩어져 검색 경로가 길어짐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2606040"/>
            <a:ext cx="58414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932688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272491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반영 시차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816352" y="2715768"/>
            <a:ext cx="3511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제도·상품·수수료 변경 후 현장 안내까지 교육과 숙지가 필요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" y="3383280"/>
            <a:ext cx="58414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32688" y="3538728"/>
            <a:ext cx="3474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350215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응대 편차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816352" y="3493008"/>
            <a:ext cx="3511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상담원의 숙련도에 따라 검색어, 답변 표현, 누락 항목이 달라짐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" y="4160520"/>
            <a:ext cx="58414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932688" y="4315968"/>
            <a:ext cx="3474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427939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리스크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816351" y="4270248"/>
            <a:ext cx="3769971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답변이 맞아 보여도 근거 문서가 없으면 금융 상담 기준으로 활용하기 어려움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12280" y="1828800"/>
            <a:ext cx="4343400" cy="3383280"/>
          </a:xfrm>
          <a:prstGeom prst="roundRect">
            <a:avLst>
              <a:gd name="adj" fmla="val 5405"/>
            </a:avLst>
          </a:prstGeom>
          <a:solidFill>
            <a:srgbClr val="FF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717804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중 지식 탐색 흐름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178040" y="2788920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7360920" y="2871216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발생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22792" y="2871216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22208" y="3182112"/>
            <a:ext cx="0" cy="246888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7178040" y="3474720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7360920" y="3557016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탐색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22792" y="3557016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편람/공지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22208" y="3867912"/>
            <a:ext cx="0" cy="246888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7178040" y="4160520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7360920" y="4242816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검증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622792" y="4242816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확인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78040" y="4846320"/>
            <a:ext cx="3520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길어질수록 고객 대기와 </a:t>
            </a:r>
            <a:r>
              <a:rPr lang="en-US" sz="112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</a:t>
            </a: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부담</a:t>
            </a: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개요: RAG AI 상담 어시스턴트는 3가지 업무를 통합합니다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- 5 -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04672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33272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3272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답변검색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33272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답변·근거 즉시 확인 + 추천멘트·출처 링크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33272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535424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764024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4024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 RAG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64024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절차·예외 기준·처리 방법을 출처와 함께 제공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64024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8266176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8494776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94776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신입교육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494776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고객과 대화→즉시 채점·모범답안 (페르소나 8종·복습)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94776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14400" y="5559552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초기에는 상담원 내부 보조도구로 시작하고, 성능·보안·운영 기준을 충족한 뒤 고객 접점 확장을 검토합니다.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흐름: 질문 → 출처 확인 → 답변 제안 → 상담 품질 기록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- 6 -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3232" y="2331720"/>
            <a:ext cx="1691640" cy="17830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96112" y="2606040"/>
            <a:ext cx="365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3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 질문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896112" y="3429000"/>
            <a:ext cx="1325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문의를 자연어로 입력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560320" y="3246120"/>
            <a:ext cx="301752" cy="0"/>
          </a:xfrm>
          <a:prstGeom prst="line">
            <a:avLst/>
          </a:prstGeom>
          <a:noFill/>
          <a:ln w="1778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2971800" y="2331720"/>
            <a:ext cx="1691640" cy="17830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154680" y="2606040"/>
            <a:ext cx="365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3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검색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3154680" y="3429000"/>
            <a:ext cx="1325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업무편람/위키 청크 검색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818888" y="3246120"/>
            <a:ext cx="301752" cy="0"/>
          </a:xfrm>
          <a:prstGeom prst="line">
            <a:avLst/>
          </a:prstGeom>
          <a:noFill/>
          <a:ln w="1778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5230368" y="2331720"/>
            <a:ext cx="1691640" cy="17830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413248" y="2606040"/>
            <a:ext cx="365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3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표시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5413248" y="3429000"/>
            <a:ext cx="1325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문서명·페이지·신뢰도 노출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077456" y="3246120"/>
            <a:ext cx="301752" cy="0"/>
          </a:xfrm>
          <a:prstGeom prst="line">
            <a:avLst/>
          </a:prstGeom>
          <a:noFill/>
          <a:ln w="1778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7488936" y="2331720"/>
            <a:ext cx="1691640" cy="17830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671816" y="2606040"/>
            <a:ext cx="365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71816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3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제안</a:t>
            </a:r>
            <a:endParaRPr lang="en-US" sz="1430" dirty="0"/>
          </a:p>
        </p:txBody>
      </p:sp>
      <p:sp>
        <p:nvSpPr>
          <p:cNvPr id="34" name="Text 32"/>
          <p:cNvSpPr/>
          <p:nvPr/>
        </p:nvSpPr>
        <p:spPr>
          <a:xfrm>
            <a:off x="7671816" y="3429000"/>
            <a:ext cx="1325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 검토 후 응대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336024" y="3246120"/>
            <a:ext cx="301752" cy="0"/>
          </a:xfrm>
          <a:prstGeom prst="line">
            <a:avLst/>
          </a:prstGeom>
          <a:noFill/>
          <a:ln w="1778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9747504" y="2331720"/>
            <a:ext cx="1691640" cy="17830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9930384" y="2606040"/>
            <a:ext cx="365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30384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3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축적</a:t>
            </a:r>
            <a:endParaRPr lang="en-US" sz="1430" dirty="0"/>
          </a:p>
        </p:txBody>
      </p:sp>
      <p:sp>
        <p:nvSpPr>
          <p:cNvPr id="39" name="Text 37"/>
          <p:cNvSpPr/>
          <p:nvPr/>
        </p:nvSpPr>
        <p:spPr>
          <a:xfrm>
            <a:off x="9930384" y="3429000"/>
            <a:ext cx="1325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오답/누락/개선 지점 관리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051560" y="4983480"/>
            <a:ext cx="10104120" cy="548640"/>
          </a:xfrm>
          <a:prstGeom prst="roundRect">
            <a:avLst>
              <a:gd name="adj" fmla="val 20000"/>
            </a:avLst>
          </a:prstGeom>
          <a:solidFill>
            <a:srgbClr val="FF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80160" y="5184648"/>
            <a:ext cx="9646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UX 원칙: 답변보다 “근거”를 먼저 보여주어 상담원이 검증 가능한 상태에서 응대합니다.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26">
            <a:extLst>
              <a:ext uri="{FF2B5EF4-FFF2-40B4-BE49-F238E27FC236}">
                <a16:creationId xmlns:a16="http://schemas.microsoft.com/office/drawing/2014/main" id="{A5CC8547-426E-CCF3-13EB-3AF9BF6E1F5E}"/>
              </a:ext>
            </a:extLst>
          </p:cNvPr>
          <p:cNvSpPr/>
          <p:nvPr/>
        </p:nvSpPr>
        <p:spPr>
          <a:xfrm>
            <a:off x="9646920" y="2642616"/>
            <a:ext cx="1664208" cy="1207008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0160">
            <a:solidFill>
              <a:srgbClr val="CED0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6621B95B-AB5C-7663-B57D-A85D41DD1D27}"/>
              </a:ext>
            </a:extLst>
          </p:cNvPr>
          <p:cNvSpPr/>
          <p:nvPr/>
        </p:nvSpPr>
        <p:spPr>
          <a:xfrm>
            <a:off x="9806940" y="2833864"/>
            <a:ext cx="438912" cy="274319"/>
          </a:xfrm>
          <a:prstGeom prst="roundRect">
            <a:avLst>
              <a:gd name="adj" fmla="val 33333"/>
            </a:avLst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구조: 편람을 “찾을 수 있는 조각 + 벡터 + 출처”로 저장합니다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- 8 -</a:t>
            </a:r>
            <a:endParaRPr lang="en-US" sz="75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538027D5-2ED8-1F3C-E61A-7468BB65EC82}"/>
              </a:ext>
            </a:extLst>
          </p:cNvPr>
          <p:cNvSpPr/>
          <p:nvPr/>
        </p:nvSpPr>
        <p:spPr>
          <a:xfrm>
            <a:off x="658368" y="1115568"/>
            <a:ext cx="7040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위키·PDF·문서를 ParsedDocument → 청크 → 임베딩 → 검색 인덱스로 변환합니다.</a:t>
            </a:r>
            <a:endParaRPr lang="en-US" sz="140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85F58316-821D-D13D-C14C-83F1B0724D41}"/>
              </a:ext>
            </a:extLst>
          </p:cNvPr>
          <p:cNvSpPr/>
          <p:nvPr/>
        </p:nvSpPr>
        <p:spPr>
          <a:xfrm>
            <a:off x="685800" y="2642616"/>
            <a:ext cx="1664208" cy="1207008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0160">
            <a:solidFill>
              <a:srgbClr val="CED0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886DD9D6-10C4-0038-E4C2-75107C4841F9}"/>
              </a:ext>
            </a:extLst>
          </p:cNvPr>
          <p:cNvSpPr/>
          <p:nvPr/>
        </p:nvSpPr>
        <p:spPr>
          <a:xfrm>
            <a:off x="850392" y="2834640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2EA57C79-B4F9-6097-1E29-BDF73D598EF5}"/>
              </a:ext>
            </a:extLst>
          </p:cNvPr>
          <p:cNvSpPr/>
          <p:nvPr/>
        </p:nvSpPr>
        <p:spPr>
          <a:xfrm>
            <a:off x="960120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E0FED8C5-B59B-FF40-8C0C-7890B1F08C4C}"/>
              </a:ext>
            </a:extLst>
          </p:cNvPr>
          <p:cNvSpPr/>
          <p:nvPr/>
        </p:nvSpPr>
        <p:spPr>
          <a:xfrm>
            <a:off x="850392" y="3163824"/>
            <a:ext cx="1298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위키 / PDF</a:t>
            </a:r>
            <a:endParaRPr lang="en-US" sz="15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583C5587-30EF-FB5F-20C5-6D3D0639910E}"/>
              </a:ext>
            </a:extLst>
          </p:cNvPr>
          <p:cNvSpPr/>
          <p:nvPr/>
        </p:nvSpPr>
        <p:spPr>
          <a:xfrm>
            <a:off x="85039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수집</a:t>
            </a:r>
            <a:endParaRPr lang="en-US" sz="950" dirty="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CE6EEA2F-1F11-7A23-2C85-345A1E8DB734}"/>
              </a:ext>
            </a:extLst>
          </p:cNvPr>
          <p:cNvSpPr/>
          <p:nvPr/>
        </p:nvSpPr>
        <p:spPr>
          <a:xfrm>
            <a:off x="2331720" y="3255264"/>
            <a:ext cx="45720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73D70A44-A469-2858-0C20-D498B0F029DA}"/>
              </a:ext>
            </a:extLst>
          </p:cNvPr>
          <p:cNvSpPr/>
          <p:nvPr/>
        </p:nvSpPr>
        <p:spPr>
          <a:xfrm>
            <a:off x="2926080" y="2642616"/>
            <a:ext cx="1664208" cy="1207008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0160">
            <a:solidFill>
              <a:srgbClr val="CED0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14D3A44A-0F72-F361-1560-DD2E55118178}"/>
              </a:ext>
            </a:extLst>
          </p:cNvPr>
          <p:cNvSpPr/>
          <p:nvPr/>
        </p:nvSpPr>
        <p:spPr>
          <a:xfrm>
            <a:off x="3090672" y="2834640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BB1AF94-EE4B-7794-BAC3-24F36A4BE6DD}"/>
              </a:ext>
            </a:extLst>
          </p:cNvPr>
          <p:cNvSpPr/>
          <p:nvPr/>
        </p:nvSpPr>
        <p:spPr>
          <a:xfrm>
            <a:off x="3200400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705F43E3-11BE-16E2-B29B-1BA5B99B9A56}"/>
              </a:ext>
            </a:extLst>
          </p:cNvPr>
          <p:cNvSpPr/>
          <p:nvPr/>
        </p:nvSpPr>
        <p:spPr>
          <a:xfrm>
            <a:off x="3090672" y="3163824"/>
            <a:ext cx="1298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</a:t>
            </a:r>
            <a:endParaRPr lang="en-US" sz="15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301E6B64-3AA9-EC6F-44FC-5EABCD2B8DD5}"/>
              </a:ext>
            </a:extLst>
          </p:cNvPr>
          <p:cNvSpPr/>
          <p:nvPr/>
        </p:nvSpPr>
        <p:spPr>
          <a:xfrm>
            <a:off x="309067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제목·문단·표</a:t>
            </a:r>
            <a:endParaRPr lang="en-US" sz="95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A9BB3FCE-B155-8D8C-24C2-496F420942F9}"/>
              </a:ext>
            </a:extLst>
          </p:cNvPr>
          <p:cNvSpPr/>
          <p:nvPr/>
        </p:nvSpPr>
        <p:spPr>
          <a:xfrm>
            <a:off x="4572000" y="3255264"/>
            <a:ext cx="45720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B0BE92BD-3210-907C-048B-F2BC91730CDB}"/>
              </a:ext>
            </a:extLst>
          </p:cNvPr>
          <p:cNvSpPr/>
          <p:nvPr/>
        </p:nvSpPr>
        <p:spPr>
          <a:xfrm>
            <a:off x="5166360" y="2642616"/>
            <a:ext cx="1664208" cy="1207008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0160">
            <a:solidFill>
              <a:srgbClr val="CED0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C954D42F-80E8-A199-C95E-F366A23B5E2E}"/>
              </a:ext>
            </a:extLst>
          </p:cNvPr>
          <p:cNvSpPr/>
          <p:nvPr/>
        </p:nvSpPr>
        <p:spPr>
          <a:xfrm>
            <a:off x="5330952" y="2834640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9AA23CF6-C595-2DFD-17D0-3B14905B7340}"/>
              </a:ext>
            </a:extLst>
          </p:cNvPr>
          <p:cNvSpPr/>
          <p:nvPr/>
        </p:nvSpPr>
        <p:spPr>
          <a:xfrm>
            <a:off x="5440680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D91DD8E0-CBBA-1505-FAA9-79F830900F8D}"/>
              </a:ext>
            </a:extLst>
          </p:cNvPr>
          <p:cNvSpPr/>
          <p:nvPr/>
        </p:nvSpPr>
        <p:spPr>
          <a:xfrm>
            <a:off x="5330952" y="3163824"/>
            <a:ext cx="1298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청킹</a:t>
            </a:r>
            <a:endParaRPr lang="en-US" sz="1500" dirty="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98596892-E89D-5116-4832-98A19E71E5F0}"/>
              </a:ext>
            </a:extLst>
          </p:cNvPr>
          <p:cNvSpPr/>
          <p:nvPr/>
        </p:nvSpPr>
        <p:spPr>
          <a:xfrm>
            <a:off x="533095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단위</a:t>
            </a:r>
            <a:endParaRPr lang="en-US" sz="95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707FA36C-B65B-A932-F0C3-6F4D2574D41B}"/>
              </a:ext>
            </a:extLst>
          </p:cNvPr>
          <p:cNvSpPr/>
          <p:nvPr/>
        </p:nvSpPr>
        <p:spPr>
          <a:xfrm>
            <a:off x="6812280" y="3255264"/>
            <a:ext cx="45720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1B0F7B9F-A4FE-22C8-4E84-548447F6ECF2}"/>
              </a:ext>
            </a:extLst>
          </p:cNvPr>
          <p:cNvSpPr/>
          <p:nvPr/>
        </p:nvSpPr>
        <p:spPr>
          <a:xfrm>
            <a:off x="7406640" y="2642616"/>
            <a:ext cx="1664208" cy="1207008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0160">
            <a:solidFill>
              <a:srgbClr val="CED0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41C019E6-7AC4-D767-4283-D2CB68045A87}"/>
              </a:ext>
            </a:extLst>
          </p:cNvPr>
          <p:cNvSpPr/>
          <p:nvPr/>
        </p:nvSpPr>
        <p:spPr>
          <a:xfrm>
            <a:off x="7571232" y="2834640"/>
            <a:ext cx="438912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E1FA1593-6D7B-4595-A728-08F4BDC2BEAF}"/>
              </a:ext>
            </a:extLst>
          </p:cNvPr>
          <p:cNvSpPr/>
          <p:nvPr/>
        </p:nvSpPr>
        <p:spPr>
          <a:xfrm>
            <a:off x="7680960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2CC7E97E-D87D-0FF6-7438-9189F74DBD8C}"/>
              </a:ext>
            </a:extLst>
          </p:cNvPr>
          <p:cNvSpPr/>
          <p:nvPr/>
        </p:nvSpPr>
        <p:spPr>
          <a:xfrm>
            <a:off x="7571232" y="3163824"/>
            <a:ext cx="1298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1500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611D7512-ACDE-8254-D1D2-E04BC2C617EC}"/>
              </a:ext>
            </a:extLst>
          </p:cNvPr>
          <p:cNvSpPr/>
          <p:nvPr/>
        </p:nvSpPr>
        <p:spPr>
          <a:xfrm>
            <a:off x="757123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좌표</a:t>
            </a:r>
            <a:endParaRPr lang="en-US" sz="95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E563A46D-2392-4FBA-5E3E-FEA4AA3FAD4C}"/>
              </a:ext>
            </a:extLst>
          </p:cNvPr>
          <p:cNvSpPr/>
          <p:nvPr/>
        </p:nvSpPr>
        <p:spPr>
          <a:xfrm>
            <a:off x="9052560" y="3255264"/>
            <a:ext cx="45720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8278696C-0FE6-55FA-85D3-8528DB34881D}"/>
              </a:ext>
            </a:extLst>
          </p:cNvPr>
          <p:cNvSpPr/>
          <p:nvPr/>
        </p:nvSpPr>
        <p:spPr>
          <a:xfrm>
            <a:off x="9921240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00" dirty="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10D11F19-3867-D007-5959-E427D39E274F}"/>
              </a:ext>
            </a:extLst>
          </p:cNvPr>
          <p:cNvSpPr/>
          <p:nvPr/>
        </p:nvSpPr>
        <p:spPr>
          <a:xfrm>
            <a:off x="9811512" y="3163824"/>
            <a:ext cx="1298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150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60E01315-B4CE-BC03-B297-9E992E744D83}"/>
              </a:ext>
            </a:extLst>
          </p:cNvPr>
          <p:cNvSpPr/>
          <p:nvPr/>
        </p:nvSpPr>
        <p:spPr>
          <a:xfrm>
            <a:off x="981151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+ BM25 + Meta</a:t>
            </a:r>
            <a:endParaRPr lang="en-US" sz="95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EFAD2A99-0F74-9DB7-2624-65EFC76EBB2A}"/>
              </a:ext>
            </a:extLst>
          </p:cNvPr>
          <p:cNvSpPr/>
          <p:nvPr/>
        </p:nvSpPr>
        <p:spPr>
          <a:xfrm>
            <a:off x="797543" y="4389119"/>
            <a:ext cx="7863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4AB51006-5572-AD27-CB12-E57BEA5C8550}"/>
              </a:ext>
            </a:extLst>
          </p:cNvPr>
          <p:cNvSpPr/>
          <p:nvPr/>
        </p:nvSpPr>
        <p:spPr>
          <a:xfrm>
            <a:off x="1051560" y="4983480"/>
            <a:ext cx="10104120" cy="548640"/>
          </a:xfrm>
          <a:prstGeom prst="roundRect">
            <a:avLst>
              <a:gd name="adj" fmla="val 20000"/>
            </a:avLst>
          </a:prstGeom>
          <a:solidFill>
            <a:srgbClr val="FF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1D40795F-704A-57A6-98FF-514043183F6F}"/>
              </a:ext>
            </a:extLst>
          </p:cNvPr>
          <p:cNvSpPr/>
          <p:nvPr/>
        </p:nvSpPr>
        <p:spPr>
          <a:xfrm>
            <a:off x="1280160" y="5074919"/>
            <a:ext cx="9646920" cy="3931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“편람을 통째 저장”하지 않고 “조각 + 의미좌표 + 출처”로 저장   ·   쉬운 풀이 — 편람을 ‘검색되는 카드 묶음’으로 바꿔 둡니다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정확도: 벡터 검색과 키워드 검색을 함께 사용합니다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- 9 -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41248" y="1920240"/>
            <a:ext cx="219456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143000" y="2331720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1600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8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“K-OTC 매매 기준은?”</a:t>
            </a:r>
            <a:endParaRPr lang="en-US" sz="108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8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고유명사·코드·업무 문맥 포함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154680" y="3108960"/>
            <a:ext cx="594360" cy="0"/>
          </a:xfrm>
          <a:prstGeom prst="line">
            <a:avLst/>
          </a:prstGeom>
          <a:noFill/>
          <a:ln w="1651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3977640" y="2057400"/>
            <a:ext cx="2377440" cy="987552"/>
          </a:xfrm>
          <a:prstGeom prst="roundRect">
            <a:avLst>
              <a:gd name="adj" fmla="val 12963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297680" y="2304288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고유명사·상품명·코드 정확 매칭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19088" y="2542032"/>
            <a:ext cx="576072" cy="612648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3931146" y="3474720"/>
            <a:ext cx="23774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4251186" y="3721608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19866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유사도와 문맥 기반 검색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V="1">
            <a:off x="6372594" y="3429000"/>
            <a:ext cx="649224" cy="530352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 dirty="0"/>
          </a:p>
        </p:txBody>
      </p:sp>
      <p:sp>
        <p:nvSpPr>
          <p:cNvPr id="28" name="Shape 26"/>
          <p:cNvSpPr/>
          <p:nvPr/>
        </p:nvSpPr>
        <p:spPr>
          <a:xfrm>
            <a:off x="7178040" y="2514600"/>
            <a:ext cx="1874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296912" y="2834640"/>
            <a:ext cx="16184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RRF / Max Pooling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</a:t>
            </a:r>
            <a:r>
              <a:rPr lang="en-US" sz="1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병합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62288" y="3136392"/>
            <a:ext cx="548640" cy="0"/>
          </a:xfrm>
          <a:prstGeom prst="line">
            <a:avLst/>
          </a:prstGeom>
          <a:noFill/>
          <a:ln w="1651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9893808" y="2331720"/>
            <a:ext cx="1508760" cy="1600200"/>
          </a:xfrm>
          <a:prstGeom prst="roundRect">
            <a:avLst>
              <a:gd name="adj" fmla="val 8485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9893808" y="2834640"/>
            <a:ext cx="14569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Context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5166359"/>
            <a:ext cx="9875520" cy="8778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벡터는 의미, BM25는 정확매칭을 보완합니다. 금융 용어 검색은 두 방식이 함께 있어야 정확합니다.
쉬운 풀이 — ‘뜻으로 찾기 + 단어로 찾기’를 같이 써서 ‘K-OTC’ 같은 전문용어도 안 놓칩니다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33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3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33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3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ko-KR" altLang="en-US" sz="13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3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33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61013CF9-0816-9776-D938-CBECC3001D42}"/>
              </a:ext>
            </a:extLst>
          </p:cNvPr>
          <p:cNvSpPr/>
          <p:nvPr/>
        </p:nvSpPr>
        <p:spPr>
          <a:xfrm>
            <a:off x="658368" y="1115568"/>
            <a:ext cx="7040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고유명사·코드·상위어 검색은 BM25와 벡터를 </a:t>
            </a:r>
            <a:r>
              <a:rPr lang="en-US" sz="1400" dirty="0" err="1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</a:t>
            </a:r>
            <a:r>
              <a:rPr lang="en-US" sz="14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사용하여</a:t>
            </a:r>
            <a:r>
              <a:rPr lang="en-US" sz="14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근거: 실데이터 기준 검색 품질과 운영 효율을 확인했습니다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- 15 -</a:t>
            </a:r>
            <a:endParaRPr lang="en-US" sz="750" dirty="0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8A69FD6D-82DF-256C-605B-0BB5184692BB}"/>
              </a:ext>
            </a:extLst>
          </p:cNvPr>
          <p:cNvSpPr/>
          <p:nvPr/>
        </p:nvSpPr>
        <p:spPr>
          <a:xfrm>
            <a:off x="685800" y="1828800"/>
            <a:ext cx="10972800" cy="3520440"/>
          </a:xfrm>
          <a:prstGeom prst="roundRect">
            <a:avLst>
              <a:gd name="adj" fmla="val 727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1F4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0E522884-A6E0-83EB-9A03-116C37C140CD}"/>
              </a:ext>
            </a:extLst>
          </p:cNvPr>
          <p:cNvSpPr/>
          <p:nvPr/>
        </p:nvSpPr>
        <p:spPr>
          <a:xfrm>
            <a:off x="1097280" y="2340864"/>
            <a:ext cx="1828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520p</a:t>
            </a:r>
            <a:endParaRPr lang="en-US" sz="3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69865B6E-DD71-BC0E-6F09-2B1278E1935E}"/>
              </a:ext>
            </a:extLst>
          </p:cNvPr>
          <p:cNvSpPr/>
          <p:nvPr/>
        </p:nvSpPr>
        <p:spPr>
          <a:xfrm>
            <a:off x="109728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위키 전체 공간 수집</a:t>
            </a:r>
            <a:endParaRPr lang="en-US" sz="11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6AF2808-6A32-76D7-CEC9-BDEA556B189E}"/>
              </a:ext>
            </a:extLst>
          </p:cNvPr>
          <p:cNvSpPr/>
          <p:nvPr/>
        </p:nvSpPr>
        <p:spPr>
          <a:xfrm>
            <a:off x="1097280" y="3339389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Confluence 기준</a:t>
            </a:r>
            <a:endParaRPr lang="en-US" sz="85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5D70B4A6-060A-8A30-32E9-574E4C620DCF}"/>
              </a:ext>
            </a:extLst>
          </p:cNvPr>
          <p:cNvSpPr/>
          <p:nvPr/>
        </p:nvSpPr>
        <p:spPr>
          <a:xfrm>
            <a:off x="3291840" y="2340864"/>
            <a:ext cx="1828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1,281</a:t>
            </a:r>
            <a:endParaRPr lang="en-US" sz="34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275DD274-C142-F9DB-4E8F-903C1F53F34B}"/>
              </a:ext>
            </a:extLst>
          </p:cNvPr>
          <p:cNvSpPr/>
          <p:nvPr/>
        </p:nvSpPr>
        <p:spPr>
          <a:xfrm>
            <a:off x="329184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페이지 적재</a:t>
            </a:r>
            <a:endParaRPr lang="en-US" sz="115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18A50788-F47E-C2AF-CD7D-013201FD90AA}"/>
              </a:ext>
            </a:extLst>
          </p:cNvPr>
          <p:cNvSpPr/>
          <p:nvPr/>
        </p:nvSpPr>
        <p:spPr>
          <a:xfrm>
            <a:off x="3291840" y="3339389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50p 청크</a:t>
            </a:r>
            <a:endParaRPr lang="en-US" sz="85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4115A5CD-56B7-BA35-2D51-B83299560060}"/>
              </a:ext>
            </a:extLst>
          </p:cNvPr>
          <p:cNvSpPr/>
          <p:nvPr/>
        </p:nvSpPr>
        <p:spPr>
          <a:xfrm>
            <a:off x="5486400" y="2340864"/>
            <a:ext cx="1828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dirty="0">
                <a:solidFill>
                  <a:srgbClr val="ED5E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81%</a:t>
            </a:r>
            <a:endParaRPr lang="en-US" sz="3400" dirty="0">
              <a:solidFill>
                <a:srgbClr val="ED5E06"/>
              </a:solidFill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C210E4E4-C856-5D1B-676D-C56CE9498875}"/>
              </a:ext>
            </a:extLst>
          </p:cNvPr>
          <p:cNvSpPr/>
          <p:nvPr/>
        </p:nvSpPr>
        <p:spPr>
          <a:xfrm>
            <a:off x="548640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hit@1</a:t>
            </a:r>
            <a:endParaRPr lang="en-US" sz="115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20F4EC08-31DE-A9B6-5D29-8F4006358B87}"/>
              </a:ext>
            </a:extLst>
          </p:cNvPr>
          <p:cNvSpPr/>
          <p:nvPr/>
        </p:nvSpPr>
        <p:spPr>
          <a:xfrm>
            <a:off x="5486400" y="3339389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 → 81%</a:t>
            </a:r>
            <a:endParaRPr lang="en-US" sz="85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8D1F8192-01D9-12EC-B69D-25CB8BF9BED3}"/>
              </a:ext>
            </a:extLst>
          </p:cNvPr>
          <p:cNvSpPr/>
          <p:nvPr/>
        </p:nvSpPr>
        <p:spPr>
          <a:xfrm>
            <a:off x="7680960" y="2340864"/>
            <a:ext cx="1828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dirty="0">
                <a:solidFill>
                  <a:srgbClr val="ED5E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3400" dirty="0">
              <a:solidFill>
                <a:srgbClr val="ED5E06"/>
              </a:solidFill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AD4F3129-625F-C95E-96BE-14CC154881CE}"/>
              </a:ext>
            </a:extLst>
          </p:cNvPr>
          <p:cNvSpPr/>
          <p:nvPr/>
        </p:nvSpPr>
        <p:spPr>
          <a:xfrm>
            <a:off x="768096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bge-m3 hit@3</a:t>
            </a:r>
            <a:endParaRPr lang="en-US" sz="115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3E18BE15-4144-1530-8C0A-934DD8EA7134}"/>
              </a:ext>
            </a:extLst>
          </p:cNvPr>
          <p:cNvSpPr/>
          <p:nvPr/>
        </p:nvSpPr>
        <p:spPr>
          <a:xfrm>
            <a:off x="7680960" y="3339389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30문항 기준</a:t>
            </a:r>
            <a:endParaRPr lang="en-US" sz="85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8B1991A4-78A1-CA4C-5626-CC1A05AFD375}"/>
              </a:ext>
            </a:extLst>
          </p:cNvPr>
          <p:cNvSpPr/>
          <p:nvPr/>
        </p:nvSpPr>
        <p:spPr>
          <a:xfrm>
            <a:off x="9875520" y="2340864"/>
            <a:ext cx="14630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95%+</a:t>
            </a:r>
            <a:endParaRPr lang="en-US" sz="34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5DC0AC3B-95D9-7B18-9E7C-3146953D8559}"/>
              </a:ext>
            </a:extLst>
          </p:cNvPr>
          <p:cNvSpPr/>
          <p:nvPr/>
        </p:nvSpPr>
        <p:spPr>
          <a:xfrm>
            <a:off x="9875520" y="304495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호출 절감</a:t>
            </a:r>
            <a:endParaRPr lang="en-US" sz="115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590355BB-010B-AF2D-3727-9C92490A48BF}"/>
              </a:ext>
            </a:extLst>
          </p:cNvPr>
          <p:cNvSpPr/>
          <p:nvPr/>
        </p:nvSpPr>
        <p:spPr>
          <a:xfrm>
            <a:off x="9875520" y="3339389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변경률 1~5% 가정</a:t>
            </a:r>
            <a:endParaRPr lang="en-US" sz="85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81874813-1D82-7E43-F3C0-C180DEEECA78}"/>
              </a:ext>
            </a:extLst>
          </p:cNvPr>
          <p:cNvSpPr/>
          <p:nvPr/>
        </p:nvSpPr>
        <p:spPr>
          <a:xfrm>
            <a:off x="1143000" y="4572000"/>
            <a:ext cx="9875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정확도 100%·답변 정확도 80%(15문항, 생성단계) — 틀려도 모든 답에 출처가 붙어 상담원이 즉시 검증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실도입 아키텍처: 프론트–API–검색–모델–운영 계층을 분리합니다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- 16 -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3232" y="2423160"/>
            <a:ext cx="1691640" cy="17830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50392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 화면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850392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UI</a:t>
            </a:r>
            <a:endParaRPr lang="en-US" sz="102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SSE 수신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478024" y="3310128"/>
            <a:ext cx="338328" cy="0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2953512" y="2423160"/>
            <a:ext cx="1691640" cy="17830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3090672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계층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3090672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02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권한·세션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718304" y="3310128"/>
            <a:ext cx="338328" cy="0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5193792" y="2423160"/>
            <a:ext cx="1691640" cy="17830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5330952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서비스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5330952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검색·병합</a:t>
            </a:r>
            <a:endParaRPr lang="en-US" sz="102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구성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958584" y="3310128"/>
            <a:ext cx="338328" cy="0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7434072" y="2423160"/>
            <a:ext cx="1691640" cy="17830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571232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저장소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7571232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VectorDB</a:t>
            </a:r>
            <a:endParaRPr lang="en-US" sz="102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 / Meta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198864" y="3310128"/>
            <a:ext cx="338328" cy="0"/>
          </a:xfrm>
          <a:prstGeom prst="line">
            <a:avLst/>
          </a:prstGeom>
          <a:noFill/>
          <a:ln w="15240">
            <a:solidFill>
              <a:srgbClr val="FF66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9674352" y="2423160"/>
            <a:ext cx="1691640" cy="1783080"/>
          </a:xfrm>
          <a:prstGeom prst="roundRect">
            <a:avLst>
              <a:gd name="adj" fmla="val 8108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811512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계층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9811512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+ Embedding</a:t>
            </a:r>
            <a:endParaRPr lang="en-US" sz="102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전환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60120" y="498348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1069848" y="5129784"/>
            <a:ext cx="640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인증/권한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46504" y="5129784"/>
            <a:ext cx="11887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SSO·부서 권한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3703320" y="498348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3813048" y="5129784"/>
            <a:ext cx="640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감사로그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89704" y="5129784"/>
            <a:ext cx="11887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질문·출처·응답 이력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446520" y="498348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6556248" y="5129784"/>
            <a:ext cx="640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품질평가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32904" y="5129784"/>
            <a:ext cx="11887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테스트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9189720" y="498348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9299448" y="5129784"/>
            <a:ext cx="640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갱신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976104" y="5129784"/>
            <a:ext cx="11887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9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변경분 증분 적재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1051560" y="4983480"/>
            <a:ext cx="10104120" cy="548640"/>
          </a:xfrm>
          <a:prstGeom prst="roundRect">
            <a:avLst>
              <a:gd name="adj" fmla="val 20000"/>
            </a:avLst>
          </a:prstGeom>
          <a:solidFill>
            <a:srgbClr val="FF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80160" y="5184648"/>
            <a:ext cx="9646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쉬운 풀이 — 화면·두뇌·창고·모델을 분리해, 나중에 ‘답변 모델’만 사내용으로 갈아끼울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보안·운영 전제: 금융권 도입은 폐쇄망 전환 가능성이 핵심입니다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- 17 -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" y="1828800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42416" y="2084832"/>
            <a:ext cx="365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72768" y="2029968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 의존 축소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035808" y="201168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실도입 시 로컬 임베딩/자체 LLM 전환 가능 구조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355080" y="1828800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574536" y="2084832"/>
            <a:ext cx="365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4888" y="2029968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레지던시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567928" y="201168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원문·벡터·질문 로그를 고객사 내부망에 보관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2960" y="3063240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042416" y="3319272"/>
            <a:ext cx="365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72768" y="3264408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통제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035808" y="324612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마스킹·권한·감사로그·보존주기 정책화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355080" y="3063240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574536" y="3319272"/>
            <a:ext cx="365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04888" y="3264408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교체성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567928" y="324612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LLMService 추상화로 모델 변경 시 영향 최소화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1143000" y="4983480"/>
            <a:ext cx="9875520" cy="603504"/>
          </a:xfrm>
          <a:prstGeom prst="roundRect">
            <a:avLst>
              <a:gd name="adj" fmla="val 15152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417320" y="5193792"/>
            <a:ext cx="9326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제안 범위: 상담원 보조 / 내부망 검토 / 출처 필수 / 고객 직접 자동응대 제외   ·   쉬운 풀이 — 데이터는 사내에, 갈아끼울 곳은 답변모델 한 곳뿐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비전: 업무편람을 넘어 ‘개인별 비정형 데이터 허브’로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- 18 -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04672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33272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FC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3272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· 업무편람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33272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업무편람(정형)을 출처 기반으로 검색·답변   ✅ 구현 완료(PoC 검증)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33272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535424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764024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4024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· 사내 통합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64024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게시판·파일서버·PDF 통합   ·   Vision · 향후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64024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8266176" y="1828800"/>
            <a:ext cx="3246120" cy="333756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8494776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94776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· 데이터 허브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494776" y="340156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메일·메신저·엑셀·회의록 통합   ·   Vision · 향후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94776" y="4498848"/>
            <a:ext cx="2606040" cy="109728"/>
          </a:xfrm>
          <a:prstGeom prst="roundRect">
            <a:avLst>
              <a:gd name="adj" fmla="val 3333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14400" y="5559552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Agentic RAG(스스로 검색·시세/공시 도구호출)·국산 금융 LLM(Qwen3·HyperCLOVA X·Solar) 전환도 향후 비전 — 오늘의 구조가 그대로 확장됩니다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기대효과: 같은 인력으로 더 빠르고·정확하게·많이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- 19 -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17320" y="1143000"/>
            <a:ext cx="8823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답변검색, 업무편람 RAG, 신입교육 기능을 통합하여 연간 업무시간 14,828시간을 절감하고 운영 ROI 156%를 달성</a:t>
            </a:r>
            <a:r>
              <a:rPr lang="en-US" sz="1350" dirty="0" err="1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8096" y="1847088"/>
            <a:ext cx="202996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68096" y="1847088"/>
            <a:ext cx="2029968" cy="91440"/>
          </a:xfrm>
          <a:prstGeom prst="rect">
            <a:avLst/>
          </a:prstGeom>
          <a:solidFill>
            <a:srgbClr val="7A5B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932688" y="2130552"/>
            <a:ext cx="1700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답변검색 시간 단축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32688" y="2633472"/>
            <a:ext cx="1700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4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중 필요한 답변을 빠르게 찾아 응대 대기 시간을 줄임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6,944시간 확보</a:t>
            </a:r>
            <a:endParaRPr lang="en-US" sz="122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1.74억 원 효과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2953512" y="1847088"/>
            <a:ext cx="202996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2953512" y="1847088"/>
            <a:ext cx="2029968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118104" y="2130552"/>
            <a:ext cx="1700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 RAG 상담지원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3118104" y="2633472"/>
            <a:ext cx="1700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4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절차, 예외 기준, 처리 방법을 상담 중 즉시 확인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3099816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5,000시간 확보</a:t>
            </a:r>
            <a:endParaRPr lang="en-US" sz="122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1.25억 원 효과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138928" y="1847088"/>
            <a:ext cx="202996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138928" y="1847088"/>
            <a:ext cx="2029968" cy="91440"/>
          </a:xfrm>
          <a:prstGeom prst="rect">
            <a:avLst/>
          </a:prstGeom>
          <a:solidFill>
            <a:srgbClr val="7A5B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5303520" y="2130552"/>
            <a:ext cx="1700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 관리 효율화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5303520" y="2633472"/>
            <a:ext cx="1700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4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업무편람 검색, 정리, 반복 문의 대응 부담 감소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5285232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2,083시간 확보</a:t>
            </a:r>
            <a:endParaRPr lang="en-US" sz="122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0.52억 원 효과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324344" y="1847088"/>
            <a:ext cx="202996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7324344" y="1847088"/>
            <a:ext cx="2029968" cy="91440"/>
          </a:xfrm>
          <a:prstGeom prst="rect">
            <a:avLst/>
          </a:prstGeom>
          <a:solidFill>
            <a:srgbClr val="7A5B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7488936" y="2130552"/>
            <a:ext cx="1700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신입교육 기능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7488936" y="2633472"/>
            <a:ext cx="1700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4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신입·전환 배치 상담원의 업무 적응 기간 단축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470648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800시간 확보</a:t>
            </a:r>
            <a:endParaRPr lang="en-US" sz="122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0.20억 원 효과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9509760" y="1847088"/>
            <a:ext cx="202996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9509760" y="1847088"/>
            <a:ext cx="2029968" cy="91440"/>
          </a:xfrm>
          <a:prstGeom prst="rect">
            <a:avLst/>
          </a:prstGeom>
          <a:solidFill>
            <a:srgbClr val="7A5B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9674352" y="2130552"/>
            <a:ext cx="1700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감소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9674352" y="2633472"/>
            <a:ext cx="1700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4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오안내, 민원, 컴플라이언스 리스크를 업무 기준 기반으로 완화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9656064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오안내·민원·감사 리스크 완화(정성효과)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8096" y="4251960"/>
            <a:ext cx="10927080" cy="1051560"/>
          </a:xfrm>
          <a:prstGeom prst="roundRect">
            <a:avLst>
              <a:gd name="adj" fmla="val 11304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60120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총 효과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60120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3.71억 원</a:t>
            </a:r>
            <a:endParaRPr lang="en-US" sz="1550" dirty="0">
              <a:solidFill>
                <a:schemeClr val="accent2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468880" y="4434840"/>
            <a:ext cx="0" cy="640080"/>
          </a:xfrm>
          <a:prstGeom prst="line">
            <a:avLst/>
          </a:prstGeom>
          <a:noFill/>
          <a:ln w="7620">
            <a:solidFill>
              <a:srgbClr val="5A5A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2715768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절감 시간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2715768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14,828시간</a:t>
            </a:r>
            <a:endParaRPr lang="en-US" sz="1550" dirty="0">
              <a:solidFill>
                <a:schemeClr val="accent2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24528" y="4434840"/>
            <a:ext cx="0" cy="640080"/>
          </a:xfrm>
          <a:prstGeom prst="line">
            <a:avLst/>
          </a:prstGeom>
          <a:noFill/>
          <a:ln w="7620">
            <a:solidFill>
              <a:srgbClr val="5A5A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4471416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운영비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471416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1.45억 원</a:t>
            </a:r>
            <a:endParaRPr lang="en-US" sz="1550" dirty="0">
              <a:solidFill>
                <a:schemeClr val="accent2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980176" y="4434840"/>
            <a:ext cx="0" cy="640080"/>
          </a:xfrm>
          <a:prstGeom prst="line">
            <a:avLst/>
          </a:prstGeom>
          <a:noFill/>
          <a:ln w="7620">
            <a:solidFill>
              <a:srgbClr val="5A5A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6227064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순효과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227064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2.26억 원</a:t>
            </a:r>
            <a:endParaRPr lang="en-US" sz="1550" dirty="0">
              <a:solidFill>
                <a:schemeClr val="accent2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735824" y="4434840"/>
            <a:ext cx="0" cy="640080"/>
          </a:xfrm>
          <a:prstGeom prst="line">
            <a:avLst/>
          </a:prstGeom>
          <a:noFill/>
          <a:ln w="7620">
            <a:solidFill>
              <a:srgbClr val="5A5A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7982712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ROI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7982712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156%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491472" y="4434840"/>
            <a:ext cx="0" cy="640080"/>
          </a:xfrm>
          <a:prstGeom prst="line">
            <a:avLst/>
          </a:prstGeom>
          <a:noFill/>
          <a:ln w="7620">
            <a:solidFill>
              <a:srgbClr val="5A5A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9738360" y="4498848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" dirty="0">
                <a:solidFill>
                  <a:srgbClr val="D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환산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9738360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7.4명분</a:t>
            </a:r>
            <a:endParaRPr lang="en-US" sz="1550" dirty="0">
              <a:solidFill>
                <a:schemeClr val="accent2"/>
              </a:solidFill>
            </a:endParaRPr>
          </a:p>
        </p:txBody>
      </p:sp>
      <p:sp>
        <p:nvSpPr>
          <p:cNvPr id="60" name="Text 58"/>
          <p:cNvSpPr/>
          <p:nvPr/>
        </p:nvSpPr>
        <p:spPr>
          <a:xfrm>
            <a:off x="914400" y="5650992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8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</a:t>
            </a:r>
            <a:r>
              <a:rPr lang="en-US" sz="12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많은 상담을 안정적으로 처리하고 상담 품질을 표준화하는 성장 </a:t>
            </a:r>
            <a:r>
              <a:rPr lang="en-US" sz="128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여력</a:t>
            </a:r>
            <a:r>
              <a:rPr lang="en-US" sz="128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8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산정 방식: 시간 효과와 품질 효과를 </a:t>
            </a:r>
            <a:r>
              <a:rPr lang="en-US" sz="24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운영비와</a:t>
            </a:r>
            <a:r>
              <a:rPr lang="en-US" sz="24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- 20 -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" y="1828800"/>
            <a:ext cx="52120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97280" y="214884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산정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679192"/>
            <a:ext cx="54864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261872" y="2606040"/>
            <a:ext cx="42245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답변검색·업무편람 확인 시간 감소를 연간 업무 여력으로 환산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97280" y="3200400"/>
            <a:ext cx="54864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261872" y="3127248"/>
            <a:ext cx="42245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신입교육과 업무편람 관리 부담 감소를 간접 생산성으로 반영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1097280" y="3721608"/>
            <a:ext cx="54864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61872" y="3648456"/>
            <a:ext cx="42245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3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오안내·민원·컴플라이언스 리스크 감소분은 보수적으로 금액화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4572000" cy="2926080"/>
          </a:xfrm>
          <a:prstGeom prst="roundRect">
            <a:avLst>
              <a:gd name="adj" fmla="val 5000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720840" y="214884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ROI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2743200"/>
            <a:ext cx="3611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(연간 총 효과 3.71억 - 연간 운영비 1.45억) ÷ 연간 운영비 1.45억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81812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156%</a:t>
            </a:r>
            <a:endParaRPr lang="en-US" sz="3100" dirty="0"/>
          </a:p>
        </p:txBody>
      </p:sp>
      <p:sp>
        <p:nvSpPr>
          <p:cNvPr id="28" name="Shape 26"/>
          <p:cNvSpPr/>
          <p:nvPr/>
        </p:nvSpPr>
        <p:spPr>
          <a:xfrm>
            <a:off x="1097280" y="5349240"/>
            <a:ext cx="9921240" cy="438912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325880" y="5486400"/>
            <a:ext cx="9464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관점: 구축비는 1회성, 운영 ROI는 매년 반복 — 지점 제외·고객센터 50명 기준의 보수적 산정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로드맵: 6월 검증 → 7월 완성 → 9월 선제안</a:t>
            </a:r>
            <a:r>
              <a:rPr lang="en-US" sz="29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29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- 21 -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" y="1920240"/>
            <a:ext cx="3154680" cy="3246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78992" y="2240280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· 6월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측정 완료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78992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완료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응대·AI코치 구현 / 검색 hit@3 100%·답변 80% 측정 / 폐쇄망 임베딩 전환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26280" y="1920240"/>
            <a:ext cx="3154680" cy="3246120"/>
          </a:xfrm>
          <a:prstGeom prst="roundRect">
            <a:avLst>
              <a:gd name="adj" fmla="val 5217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782312" y="2240280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상시 운영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4782312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챗봇·AI코치를 사내 서버에 상시 구동 / 매일 배치로 편람 자동 갱신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1920240"/>
            <a:ext cx="3154680" cy="3246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8485632" y="2240280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8~9월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85632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전환·선제안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8485632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85632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8월: GPU 갖춰 완전 사내(native) 전환 / 9월: 고객사 선제안·도입 협의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5596128"/>
            <a:ext cx="102412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권장: 작게 시작해 운영 전환까지 — 7월 완성 → 8월 사내화 → 9월 고객사 선제안으로 연결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체계: 모델보다 중요한 것은 지식 </a:t>
            </a:r>
            <a:r>
              <a:rPr lang="en-US" sz="2900" b="1" dirty="0" err="1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갱신·평가·로그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- 22 -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" y="1828800"/>
            <a:ext cx="498348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78992" y="2084832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갱신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2039112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내용해시 diff로 변경분만 인제스트</a:t>
            </a:r>
            <a:endParaRPr lang="en-US" sz="107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문서별 갱신 이력 관리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355080" y="1828800"/>
            <a:ext cx="4983480" cy="1005840"/>
          </a:xfrm>
          <a:prstGeom prst="roundRect">
            <a:avLst>
              <a:gd name="adj" fmla="val 12727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611112" y="2084832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회귀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2039112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테스트셋 hit@1/hit@3/MRR 측정</a:t>
            </a:r>
            <a:endParaRPr lang="en-US" sz="107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모델·프롬프트 변경 전후 비교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822960" y="3291840"/>
            <a:ext cx="498348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78992" y="3547872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감사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3502152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질문·선택 청크·답변·신뢰도 로그</a:t>
            </a:r>
            <a:endParaRPr lang="en-US" sz="107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오답 원인 분류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355080" y="3291840"/>
            <a:ext cx="498348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11112" y="3547872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승인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3502152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금지 영역·민감 정보·승인 문구</a:t>
            </a:r>
            <a:endParaRPr lang="en-US" sz="107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7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기준과 프롬프트 동시 관리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1005840" y="5257800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234440" y="5404104"/>
            <a:ext cx="9692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원칙: 프롬프트 변경과 코드 변경을 분리하고, 변경 전후 품질 지표를 반드시 남김</a:t>
            </a:r>
            <a:endParaRPr lang="en-US" sz="12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408176" y="438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640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08176" y="630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성공 기준: 정확도·속도·보안·현장효과를 함께 봅니다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- 23 -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68680" y="187452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97280" y="21122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품질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286000" y="211226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hit@3 ≥ 90%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97280" y="249631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4526280" y="187452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754880" y="21122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체감 속도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943600" y="211226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응답 ≤ 1초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4754880" y="249631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8183880" y="187452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412480" y="21122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표시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601200" y="211226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누락 0건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412480" y="249631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868680" y="315468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6E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097280" y="33924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효과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2286000" y="339242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시간 50%+ 단축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1097280" y="377647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4526280" y="315468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4754880" y="33924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943600" y="339242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상담원 만족도 4.0+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4754880" y="377647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8183880" y="315468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412480" y="33924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2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운영성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9601200" y="3392424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2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변경분 갱신 자동화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8412480" y="3776472"/>
            <a:ext cx="2468880" cy="73152"/>
          </a:xfrm>
          <a:prstGeom prst="roundRect">
            <a:avLst>
              <a:gd name="adj" fmla="val 37500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005840" y="5029200"/>
            <a:ext cx="10149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80160" y="5276088"/>
            <a:ext cx="9601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7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판정은 하나의 데모 지표가 아니라, 현장 적용 가능한 운영 시스템인지 확인하는 기준으로 설계합니다.</a:t>
            </a:r>
            <a:endParaRPr lang="en-US" sz="13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2A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한화시스템 · 2026 상반기 AX 추진 사례 공유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154680"/>
            <a:ext cx="457200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65105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8C8C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ⓒ Hanwha Systems. All rights reserved</a:t>
            </a:r>
            <a:endParaRPr lang="en-US" sz="750" dirty="0"/>
          </a:p>
        </p:txBody>
      </p:sp>
      <p:sp>
        <p:nvSpPr>
          <p:cNvPr id="10" name="TextBox 9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- 25 -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03 · 시연: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두 가지 모드 — 답을 찾는 AI, 사람을 키우는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응대 모드: 출처와 함께 답변 제시 · AI 코치 모드: AI가 고객이 되어 신입을 훈련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1819655"/>
            <a:ext cx="6601968" cy="4169664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emo_시연영상_실제버전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1874519"/>
            <a:ext cx="6492240" cy="40599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874519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203911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02082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응대 모드 — 상담원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532887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65656"/>
                </a:solidFill>
                <a:latin typeface="맑은 고딕"/>
                <a:ea typeface="맑은 고딕"/>
              </a:rPr>
              <a:t>두서없는 고객 질문도 편람 근거를 먼저 찾아 정리된 답변과 추천 응대 멘트까지 제시합니다.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3483864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600"/>
                </a:solidFill>
                <a:latin typeface="맑은 고딕"/>
                <a:ea typeface="맑은 고딕"/>
              </a:rPr>
              <a:t>출처 100% 부착 · 신뢰도 표시(상/중/하)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014215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4178807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41605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AI 코치 모드 — 즉시 채점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4672583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65656"/>
                </a:solidFill>
                <a:latin typeface="맑은 고딕"/>
                <a:ea typeface="맑은 고딕"/>
              </a:rPr>
              <a:t>AI가 8종 페르소나로 질문하면 신입이 응대를 작성하고, 점수·누락항목·모범답안을 즉시 받습니다.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562356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600"/>
                </a:solidFill>
                <a:latin typeface="맑은 고딕"/>
                <a:ea typeface="맑은 고딕"/>
              </a:rPr>
              <a:t>페르소나 8종 · 난이도 3단계 · 약점 자동 복습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44068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편람을 찾아줄 뿐 아니라 응대 멘트까지 — 신입은 선배 없이도 반복 훈련으로 숙련됩니다.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05332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8C8C89"/>
                </a:solidFill>
                <a:latin typeface="맑은 고딕"/>
                <a:ea typeface="맑은 고딕"/>
              </a:rPr>
              <a:t>재생: 슬라이드쇼에서 자동재생(또는 영상 클릭). 좌측 한 영상에 응대→AI코치 모드가 이어집니다.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04 · 기술 난점 → 해결: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5개의 벽을 만났고, 모두 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- 10 -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편람을 AI가 읽게 만드는 길에는 '벽'이 있습니다 — 고객사 환경에도 똑같이 서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폐쇄망의 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→ 머신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회사 PC에 개발 도구도 없는 환경. 안 된다가 기본값인 곳에서 시작했습니다.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6006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0598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0598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인증의 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0598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→ Windows 통합인증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598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AI가 사내 위키에 스스로 로그인해야 합니다. 매번 사람이 입력할 수는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7340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1932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1932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숨은 문서의 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1932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→ 트리 전체 순회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1932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화면에 접혀 있는 페이지들. 보이는 것만 긁으면 절반을 놓칩니다.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8674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3266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3266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낭비의 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3266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→ 변경분만 갱신 95%↓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3266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편람은 매일 조금씩 바뀝니다. 매번 전부 재처리하면 비용이 감당 안 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0008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4600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4600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검색·신뢰의 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4600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→ Hybrid + 출처 부착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4600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AI가 틀린 답을 하거나, 종목코드 같은 정확한 단어를 못 찾는 문제입니다.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193792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이 5개는 폐쇄망 금융사라면 누구나 만나는 벽 — 우리는 이미 다 넘어봤습니다.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04 · 기술 난점 (1/3):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벽 ①② — 들어갈 수도, 로그인할 수도 없던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- 11 -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폐쇄망 PC, 그리고 AI가 스스로 사내 위키에 로그인해야 하는 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폐쇄망인데 회사 PC엔 개발 도구가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사내망에서만 위키에 닿을 수 있는데, 그 PC엔 Python을 깔 수 없었습니다.
해결: '문서 수집'과 '문서 가공'을 다른 컴퓨터로 분리했습니다. 금고에서 서류만 꺼내고, 정리는 밖에서 하는 방식입니다.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교훈: 내부망이 꼭 필요한 최소한의 단계만 떼어내면 풀린다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AI 위키 로그인에 매번 사람이 개입해야 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쿠키를 손으로 복사해 넣었는데 번거롭고 자주 틀렸습니다.
해결: 이미 로그인된 Windows 계정을 신분증처럼 활용했습니다. 사원증 한 번으로 사무실 전체를 통과하는 것과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교훈: 인트라넷엔 쿠키보다 Windows 세션이 통한다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이 두 벽은 폐쇄망 금융사 공통 — 고객사도 동일하고, 우리는 이미 넘어온 길입니다.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04 · 기술 난점 (2/3):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벽 ③④ — 눈에 안 보이는 문서, 잘못 버려진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- 12 -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수집기가 '본 것'과 '실제로 있는 것'이 달랐던 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위키 트리가 '접혀' 있어 절반이 안 보였다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AJAX 구조라 화면을 그대로 긁으면 펼치지 않은 페이지를 놓쳤습니다.
해결: 최상위 rootPageId부터 자식 목록을 재귀 호출해 모든 페이지를 펼쳤습니다.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결과: 520페이지 누락 없이 확보, 1,281개 조각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멀쩡한 페이지를 로그인 만료로 잘못 버렸다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본문에 로그인 버튼이 항상 있어, 수집기가 이를 세션 만료로 오인했습니다.
해결: 본문 글자 대신 URL 변경 여부만 판단합니다.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교훈: 단어가 아닌 명확한 신호 하나만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데이터 누락은 도입 품질을 좌우하는 벽 — 우리는 검증까지 마쳤습니다.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04 · 기술 난점 (3/3):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벽 ⑤ — 낭비, 틀린 검색, 그리고 AI 환각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비용 95% 절감, 검색 정확도 확보, 환각 통제까지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편람이 바뀔 때마다 전부 재처리하면 감당 안 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해결: 문서마다 지문(내용 해시)을 찍어두고, 바뀐 문서만 재처리합니다.
오타 한 줄 고쳤다고 책 전체를 재인쇄하지 않고, 그 페이지만 교체하는 것과 같습니다.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임베딩 비용 95%+ 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20391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423160"/>
            <a:ext cx="4705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종목코드·고유명사를 못 찾고, AI가 거짓말을 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990088"/>
            <a:ext cx="4705959" cy="1335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565656"/>
                </a:solidFill>
                <a:latin typeface="맑은 고딕"/>
                <a:ea typeface="맑은 고딕"/>
              </a:rPr>
              <a:t>의미 검색은 K-OTC 같은 코드에 약합니다. Hybrid(의미+키워드)로 보완하고, 모든 답변에 출처를 붙여 틀려도 추적 가능하게 설계했습니다.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4443983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>
                <a:solidFill>
                  <a:srgbClr val="FF6600"/>
                </a:solidFill>
                <a:latin typeface="맑은 고딕"/>
                <a:ea typeface="맑은 고딕"/>
              </a:rPr>
              <a:t>hit@3 100% · 출처 100% · 답변 정확도 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비용·정확도·신뢰 — 이 세 벽은 못 넘으면 AI 도입 무산입니다. 우리는 통제 가능한 수준까지 끌어올렸습니다.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05 · PoC 시사점: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PoC가 알려준 5가지 — 고객사 AX에 그대로 적용됩니다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- 14 -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한화투자증권 위키 PoC에서 증명된 5개 원리. 종목·편람만 바뀔 뿐, 해법은 동일합니다.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검색 설계 &gt; 모델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FinanceBench 56% vs 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큰 LLM보다 '잘 찾아주는 설계'가 정확도를 만듭니다. 금융 벤치마크에서 멀티에이전트 RAG가 GPT-4를 압도했습니다.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6006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0598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0598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RAG = 재학습 없는 최신성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0598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변경분만 임베딩 95%+ 절감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598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편람이 바뀌면 모델 재학습 없이 문서만 교체합니다. 규정이 수시로 바뀌는 증권 업무에 최적입니다.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7340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1932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1932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3계층 분리 = 확장 비용 최소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1932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신규 소스 = 커넥터/파서만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1932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수집·파싱·적재를 분리해 새 소스가 와도 커넥터 1개만 추가하면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8674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3266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3266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폐쇄망 이식성 = 도입 가능성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3266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ChromaDB 복사 · LLM만 교체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3266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ChromaDB 폴더 복사로 내부망 이식, 임베딩은 로컬 전환 완료. LLM만 교체하면 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0008" y="1828800"/>
            <a:ext cx="189701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4600" y="20299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4600" y="2340864"/>
            <a:ext cx="15678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2A2A"/>
                </a:solidFill>
                <a:latin typeface="맑은 고딕"/>
                <a:ea typeface="맑은 고딕"/>
              </a:rPr>
              <a:t>출처 부착 = 검증 가능한 신뢰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4600" y="2816352"/>
            <a:ext cx="1567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출처 100% 부착 · 추적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4600" y="3127248"/>
            <a:ext cx="156783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60" b="0">
                <a:solidFill>
                  <a:srgbClr val="565656"/>
                </a:solidFill>
                <a:latin typeface="맑은 고딕"/>
                <a:ea typeface="맑은 고딕"/>
              </a:rPr>
              <a:t>모든 답에 출처를 붙입니다. 틀려도 어디서 왔는지 즉시 확인 — 검증 가능한 보조 도구입니다.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193792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이 5가지는 모든 증권사의 공통 해법입니다. 고객사 환경에 맞춰 함께 AX 과제를 발굴할 준비가 되어 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08 · 함께 할 일: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다음 단계 — AX 과제를 함께 발굴합니다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- 24 -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오늘의 PoC는 '완성된 제품'이 아니라, 까다로운 환경도 풀어낸다는 실행 역량의 증거입니다.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AX 과제 발굴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고객사 비정형 지식 자산(위키·매뉴얼·규정 등)을 함께 진단하고 AX 후보 업무를 추려냅니다.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반나절 · 무상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9663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공동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우선순위 1개 업무를 골라, 오늘 수준의 동작 가능한 PoC를 실제 데이터로 함께 만듭니다.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4~6주 · 1개 영역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폐쇄망 적용 검토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데이터가 내부망을 벗어나지 않는 온프레미스 구조와 국산 LLM 교체성을 함께 점검합니다.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온프레미스 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9663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후속 제안서 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PoC 결과를 토대로 과제별 ROI와 단계별 로드맵을 고객사 인력 규모로 환산해 산출합니다.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과제별 ROI · 로드맵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작은 PoC부터 함께 시작하시죠.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부록 A · 검색 심화: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기본 RAG는 의미검색 1회 — 4개 신호를 겹쳐 빈틈을 메웠다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- 26 -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벡터 1회 검색이 놓치는 고유명사·동의어·제목 매칭을 4신호 병합으로 보완 → hit@3 100%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제목·본문 2컬렉션 가중병합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청크를 제목 벡터와 본문 벡터 두 컬렉션에 따로 색인하고 합산합니다. 표제어 질문은 제목이, 풀어쓴 질문은 본문이 잡아냅니다.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2 컬렉션 가중병합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9663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동의어 변형 Max Pooling 흡수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질문을 여러 동의어로 던지고 각 청크의 최고 점수만 채택합니다. 하나라도 명중하면 살아남습니다.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변형 N개 중 최댓값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Hybrid — BM25 + 벡터 RRF 융합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의미 검색은 'K-OTC' 같은 코드에 약합니다. BM25 키워드 인덱스를 병행하고 RRF로 합산해 보완합니다.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hit@1 62% → 81%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9663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도메인 동의어 사전으로 질의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'예수금'='고객예탁금'처럼 사내 용어 격차를 사전 한 줄 추가로 즉시 메웁니다. 모델 재학습이 필요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사전 1줄 = 즉시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4신호로 겹쳐 막은 결과 — 30문항/50p에서 정답이 항상 top-3 안. LLM은 항상 정답 컨텍스트를 받습니다.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8176" y="4389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5656"/>
                </a:solidFill>
                <a:latin typeface="맑은 고딕"/>
                <a:ea typeface="맑은 고딕"/>
              </a:rPr>
              <a:t>한화시스템 · 2026 상반기 AX 추진 사례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676656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부록 B · 위키 수집·인증: </a:t>
            </a:r>
            <a:r>
              <a:rPr sz="2000" b="1">
                <a:solidFill>
                  <a:srgbClr val="2A2A2A"/>
                </a:solidFill>
                <a:latin typeface="맑은 고딕"/>
                <a:ea typeface="맑은 고딕"/>
              </a:rPr>
              <a:t>API도 DB 권한도 없이 — PowerShell이 사람처럼 들어가 수집한다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856" y="6510528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Windows 통합인증 → 페이지 트리 재귀 순회 → HTML 통째 수집 후 파싱. 게시판·파일서버도 동일 패턴.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Windows 통합인증(SSO) 무인 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PowerShell이 현재 Windows 세션을 그대로 실어 보냅니다(UseDefaultCredentials). 쿠키 수동 복사 없이, 도메인 로그인만으로 위키에 접근합니다.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수동 쿠키 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10512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193852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9663" y="1920240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rootPageId 자동추출 + 트리 재귀 순회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231136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AJAX로 접혀 있는 트리는 정적 HTML로 볼 수 없습니다. 최상위 rootPageId를 추출하고 자식 API를 재귀 호출해 전체를 펼칩니다.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3044952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520페이지 누락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HTML 통째 수집 후 파싱 분리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수집 단계에서는 원본 HTML만 저장합니다. 파싱(제목·문단·표 추출)은 분리된 단계에서 수행 — 파싱 규칙을 고쳐도 재수집이 필요 없습니다.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수집·파싱 분리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483863"/>
            <a:ext cx="52088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3611879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9663" y="3593591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>
                <a:solidFill>
                  <a:srgbClr val="2A2A2A"/>
                </a:solidFill>
                <a:latin typeface="맑은 고딕"/>
                <a:ea typeface="맑은 고딕"/>
              </a:rPr>
              <a:t>API·DB 권한 불필요 — 게시판·파일서버 동일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3904487"/>
            <a:ext cx="47516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565656"/>
                </a:solidFill>
                <a:latin typeface="맑은 고딕"/>
                <a:ea typeface="맑은 고딕"/>
              </a:rPr>
              <a:t>관리자 API 없이 '사람이 보는 화면'을 그대로 가져옵니다. 새 대상이 생기면 커넥터 1개만 추가하면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4718303"/>
            <a:ext cx="47516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>
                <a:solidFill>
                  <a:srgbClr val="FF6600"/>
                </a:solidFill>
                <a:latin typeface="맑은 고딕"/>
                <a:ea typeface="맑은 고딕"/>
              </a:rPr>
              <a:t>커넥터 1개 = 새 소스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532120"/>
            <a:ext cx="10149840" cy="5029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Windows 계정 하나만으로 폐쇄망 위키를 무인 수집합니다. 같은 원리가 게시판·파일서버·포털로 그대로 확장됩니다.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2006</Words>
  <Application>Microsoft Macintosh PowerPoint</Application>
  <PresentationFormat>Widescreen</PresentationFormat>
  <Paragraphs>376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NanumBarunGothic</vt:lpstr>
      <vt:lpstr>Pretendard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Hanwha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한화투자증권 RAG AI 상담 어시스턴트 AX 선제안</dc:title>
  <dc:subject>한화투자증권 RAG AI 상담 어시스턴트 AX 선제안</dc:subject>
  <dc:creator>OpenAI</dc:creator>
  <cp:lastModifiedBy>승아 김</cp:lastModifiedBy>
  <cp:revision>14</cp:revision>
  <dcterms:created xsi:type="dcterms:W3CDTF">2026-06-25T21:59:31Z</dcterms:created>
  <dcterms:modified xsi:type="dcterms:W3CDTF">2026-06-25T22:27:12Z</dcterms:modified>
</cp:coreProperties>
</file>