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600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2A2A2A"/>
                </a:solidFill>
                <a:latin typeface="맑은 고딕"/>
                <a:ea typeface="맑은 고딕"/>
              </a:rPr>
              <a:t>ITO </a:t>
            </a:r>
            <a:r>
              <a:rPr sz="3800" b="1">
                <a:solidFill>
                  <a:srgbClr val="FF6600"/>
                </a:solidFill>
                <a:latin typeface="맑은 고딕"/>
                <a:ea typeface="맑은 고딕"/>
              </a:rPr>
              <a:t>AX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8036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65656"/>
                </a:solidFill>
                <a:latin typeface="맑은 고딕"/>
                <a:ea typeface="맑은 고딕"/>
              </a:rPr>
              <a:t>직접 만든 RAG 상담 어시스턴트 — 우리가 만든 것, 넘은 벽, 그리고 앞으로의 계획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977639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78807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맑은 고딕"/>
                <a:ea typeface="맑은 고딕"/>
              </a:rPr>
              <a:t>직접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544568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업무편람을 출처와 함께 답하는 AI 상담 어시스턴트를 팀이 직접 구현·검증했습니다.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977639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178807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맑은 고딕"/>
                <a:ea typeface="맑은 고딕"/>
              </a:rPr>
              <a:t>폐쇄망을 넘었다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544568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개발 도구도 자동 로그인도 없던 회사 환경의 벽을 하나씩 풀어냈습니다.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977639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4178807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맑은 고딕"/>
                <a:ea typeface="맑은 고딕"/>
              </a:rPr>
              <a:t>다음을 계획한다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544568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지금은 안 되는 것도, 사내 환경이 갖춰지면 바로 적용되도록 설계해 두었습니다.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692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2026.07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603504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9" b="0">
                <a:solidFill>
                  <a:srgbClr val="8C8C89"/>
                </a:solidFill>
                <a:latin typeface="맑은 고딕"/>
                <a:ea typeface="맑은 고딕"/>
              </a:rPr>
              <a:t>RAG: AI가 답을 지어내지 않고 사내 문서에서 근거를 먼저 찾아 답하는 방식 · AX: AI 기반 업무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A2A2A"/>
                </a:solidFill>
                <a:latin typeface="맑은 고딕"/>
                <a:ea typeface="맑은 고딕"/>
              </a:rPr>
              <a:t>오늘, 이 세 가지만 기억하시면 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사례 → 역량 → 계획. 제품을 팔러 온 자리가 아니라, 이만큼 만드는 팀이라는 걸 보여드립니다.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9202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6600"/>
                </a:solidFill>
                <a:latin typeface="맑은 고딕"/>
                <a:ea typeface="맑은 고딕"/>
              </a:rPr>
              <a:t>① 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78892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A2A2A"/>
                </a:solidFill>
                <a:latin typeface="맑은 고딕"/>
                <a:ea typeface="맑은 고딕"/>
              </a:rPr>
              <a:t>직접 만든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49039"/>
            <a:ext cx="28529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업무편람 520페이지를 수집해, AI가 출처와 함께 답하도록 팀이 직접 만들고 눈으로 확인했습니다.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7448" y="19202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1768" y="2212848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6600"/>
                </a:solidFill>
                <a:latin typeface="맑은 고딕"/>
                <a:ea typeface="맑은 고딕"/>
              </a:rPr>
              <a:t>②  역량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278892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A2A2A"/>
                </a:solidFill>
                <a:latin typeface="맑은 고딕"/>
                <a:ea typeface="맑은 고딕"/>
              </a:rPr>
              <a:t>폐쇄망의 벽을 넘은 실행력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3749039"/>
            <a:ext cx="28529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개발 도구 없는 PC, 위키 인증, 매일 바뀌는 편람 — 현장의 벽을 피하지 않고 직접 풀었습니다.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19202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23376" y="2212848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6600"/>
                </a:solidFill>
                <a:latin typeface="맑은 고딕"/>
                <a:ea typeface="맑은 고딕"/>
              </a:rPr>
              <a:t>③ 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3376" y="278892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A2A2A"/>
                </a:solidFill>
                <a:latin typeface="맑은 고딕"/>
                <a:ea typeface="맑은 고딕"/>
              </a:rPr>
              <a:t>실도입·확장의 청사진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749039"/>
            <a:ext cx="28529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지금 못 하는 부분도 사내 환경이 갖춰지면 바로 올라가도록 설계했고, 다음 확장까지 그렸습니다.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제품을 파는 자리가 아닙니다. ITO팀이 이만큼 만들 수 있는 팀이라는 걸 보여드리는 자리입니다.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상담의 병목은 사람이 아니라 '흩어진 지식'입니다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제도·상품이 자주 바뀌는 증권 상담에서, 정작 시간을 잡아먹는 건 '지식을 찾는 방식'입니다.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20240"/>
            <a:ext cx="340156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697480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맑은 고딕"/>
                <a:ea typeface="맑은 고딕"/>
              </a:rPr>
              <a:t>분산된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업무편람·위키·공지·메신저가 여기저기 흩어져 있어, 필요한 내용을 찾는 경로가 깁니다.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27448" y="1920240"/>
            <a:ext cx="340156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697480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맑은 고딕"/>
                <a:ea typeface="맑은 고딕"/>
              </a:rPr>
              <a:t>변경 반영 시차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31089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제도·상품·수수료가 바뀌어도 현장이 숙지하기까지 시간이 걸려 오안내 위험이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9056" y="1920240"/>
            <a:ext cx="340156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2697480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맑은 고딕"/>
                <a:ea typeface="맑은 고딕"/>
              </a:rPr>
              <a:t>응대 편차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31089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상담원 숙련도에 따라 검색어·답변 표현·누락 항목이 달라져 품질이 들쭉날쭉합니다.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4224528"/>
            <a:ext cx="10424160" cy="566928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315968"/>
            <a:ext cx="10058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600"/>
                </a:solidFill>
                <a:latin typeface="맑은 고딕"/>
                <a:ea typeface="맑은 고딕"/>
              </a:rPr>
              <a:t>▶  상담 현장 영상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지금 상담원이 겪는 상황을 먼저 보여드린 뒤, 우리가 만든 화면으로 이어집니다.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문제는 상담원이 아니라, 지식을 찾는 '방식'입니다.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- 3 -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우리가 만든 것 — 세 가지 일을 하나로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단일 데모가 아니라, 상담 현장에서 실제로 필요한 세 가지 업무를 하나의 도구로 묶었습니다.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24912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2A2A2A"/>
                </a:solidFill>
                <a:latin typeface="맑은 고딕"/>
                <a:ea typeface="맑은 고딕"/>
              </a:rPr>
              <a:t>답변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154680"/>
            <a:ext cx="28529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고객 질문에 필요한 답과 근거를 즉시 찾아, 추천 응대 멘트와 출처까지 함께 제시합니다.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27448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24912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2A2A2A"/>
                </a:solidFill>
                <a:latin typeface="맑은 고딕"/>
                <a:ea typeface="맑은 고딕"/>
              </a:rPr>
              <a:t>업무편람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3154680"/>
            <a:ext cx="28529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업무 절차·예외 기준·처리 방법을, 어느 문서 몇 페이지인지 출처와 함께 알려줍니다.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9056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2724912"/>
            <a:ext cx="2852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2A2A2A"/>
                </a:solidFill>
                <a:latin typeface="맑은 고딕"/>
                <a:ea typeface="맑은 고딕"/>
              </a:rPr>
              <a:t>신입 교육 (AI 코치)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3154680"/>
            <a:ext cx="28529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AI가 고객이 되어 질문하면 신입이 응대하고, 즉시 채점·모범답안을 받습니다. (페르소나 8종)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처음엔 상담원의 내부 보조 도구로. 성능·보안·운영이 검증되면 접점을 넓혀갑니다.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- 4 -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시연 — 답을 찾는 AI, 사람을 키우는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개념이 아니라 실제로 동작하는 두 개의 화면을 보여드립니다.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20240"/>
            <a:ext cx="5120640" cy="233172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194560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2A2A2A"/>
                </a:solidFill>
                <a:latin typeface="맑은 고딕"/>
                <a:ea typeface="맑은 고딕"/>
              </a:rPr>
              <a:t>응대 모드 — 상담원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697480"/>
            <a:ext cx="4535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565656"/>
                </a:solidFill>
                <a:latin typeface="맑은 고딕"/>
                <a:ea typeface="맑은 고딕"/>
              </a:rPr>
              <a:t>두서없는 고객 질문도 편람 근거를 먼저 찾아, 정리된 답변과 추천 응대 멘트까지 제시합니다.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703320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600"/>
                </a:solidFill>
                <a:latin typeface="맑은 고딕"/>
                <a:ea typeface="맑은 고딕"/>
              </a:rPr>
              <a:t>모든 답변에 출처 부착 · 신뢰도 상/중/하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920240"/>
            <a:ext cx="51206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0568" y="2194560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2A2A2A"/>
                </a:solidFill>
                <a:latin typeface="맑은 고딕"/>
                <a:ea typeface="맑은 고딕"/>
              </a:rPr>
              <a:t>AI 코치 모드 — 즉시 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2697480"/>
            <a:ext cx="4535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565656"/>
                </a:solidFill>
                <a:latin typeface="맑은 고딕"/>
                <a:ea typeface="맑은 고딕"/>
              </a:rPr>
              <a:t>AI가 8종 고객 페르소나로 질문하면 신입이 응대를 작성하고, 점수·누락 항목·모범답안을 즉시 받습니다.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0568" y="3703320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600"/>
                </a:solidFill>
                <a:latin typeface="맑은 고딕"/>
                <a:ea typeface="맑은 고딕"/>
              </a:rPr>
              <a:t>페르소나 8종 · 난이도 3단계 · 약점 자동 복습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434840"/>
            <a:ext cx="104241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80560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600"/>
                </a:solidFill>
                <a:latin typeface="맑은 고딕"/>
                <a:ea typeface="맑은 고딕"/>
              </a:rPr>
              <a:t>▶  우리가 만든 화면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실제 질문을 던지면 근거와 함께 답이 나오는 과정을 영상으로 보여드립니다.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편람을 찾아줄 뿐 아니라 응대 멘트까지 — 신입은 선배 없이도 반복 훈련으로 숙련됩니다.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- 5 -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편람을 'AI가 찾을 수 있는 형태'로 바꿉니다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편람을 통째로 넣지 않습니다. '찾아지는 카드 묶음'으로 바꿔 두는 것이 핵심입니다.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1488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40487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89864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A2A"/>
                </a:solidFill>
                <a:latin typeface="맑은 고딕"/>
                <a:ea typeface="맑은 고딕"/>
              </a:rPr>
              <a:t>위키·문서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64408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흩어진 원문을 모읍니다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69748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1488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0487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9864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A2A"/>
                </a:solidFill>
                <a:latin typeface="맑은 고딕"/>
                <a:ea typeface="맑은 고딕"/>
              </a:rPr>
              <a:t>조각으로 나누기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64408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의미 단위로 잘라둡니다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69748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1488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40487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89864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A2A"/>
                </a:solidFill>
                <a:latin typeface="맑은 고딕"/>
                <a:ea typeface="맑은 고딕"/>
              </a:rPr>
              <a:t>의미로 색인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264408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AI가 '뜻'으로 찾게 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7" y="269748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21488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240487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89864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A2A"/>
                </a:solidFill>
                <a:latin typeface="맑은 고딕"/>
                <a:ea typeface="맑은 고딕"/>
              </a:rPr>
              <a:t>출처와 함께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3264408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어디서 왔는지 붙여 둡니다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605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5656"/>
                </a:solidFill>
                <a:latin typeface="맑은 고딕"/>
                <a:ea typeface="맑은 고딕"/>
              </a:rPr>
              <a:t>여기에 더해, </a:t>
            </a:r>
            <a:r>
              <a:rPr sz="1200" b="1">
                <a:solidFill>
                  <a:srgbClr val="FF6600"/>
                </a:solidFill>
                <a:latin typeface="맑은 고딕"/>
                <a:ea typeface="맑은 고딕"/>
              </a:rPr>
              <a:t>답변 정확도를 높이는 우리만의 장치</a:t>
            </a:r>
            <a:r>
              <a:rPr sz="1200" b="0">
                <a:solidFill>
                  <a:srgbClr val="565656"/>
                </a:solidFill>
                <a:latin typeface="맑은 고딕"/>
                <a:ea typeface="맑은 고딕"/>
              </a:rPr>
              <a:t>를 얹었습니다. (뒤 '어려웠던 점'에서 설명)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편람을 통째로 저장하지 않고, '검색되는 카드 묶음'으로 바꿔 둡니다.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- 6 -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만들면서 부딪힌 '벽', 그리고 넘은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편람을 AI가 읽게 만드는 길에는 벽이 있었습니다 — 고객사 환경에도 똑같이 서 있는 벽입니다.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965960"/>
            <a:ext cx="2542032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40279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닫힌 회사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520439"/>
            <a:ext cx="20299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65656"/>
                </a:solidFill>
                <a:latin typeface="맑은 고딕"/>
                <a:ea typeface="맑은 고딕"/>
              </a:rPr>
              <a:t>개발 도구도, 자동 로그인도 없던 회사 PC에서 데이터를 어떻게 가져오나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1023" y="1965960"/>
            <a:ext cx="2542032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5" y="2240279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7055" y="274320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매일 바뀌는 편람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7055" y="3520439"/>
            <a:ext cx="20299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65656"/>
                </a:solidFill>
                <a:latin typeface="맑은 고딕"/>
                <a:ea typeface="맑은 고딕"/>
              </a:rPr>
              <a:t>조금씩 바뀌는 내용을, 매번 전부 다시 하지 않고 어떻게 따라잡나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2511" y="1965960"/>
            <a:ext cx="2542032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3" y="2240279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3" y="274320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정확한 답과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3" y="3520439"/>
            <a:ext cx="20299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65656"/>
                </a:solidFill>
                <a:latin typeface="맑은 고딕"/>
                <a:ea typeface="맑은 고딕"/>
              </a:rPr>
              <a:t>엉뚱한 답을 막고, 종목코드까지 정확히 찾아, '왜 그 답인지'를 붙이기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3999" y="1965960"/>
            <a:ext cx="2542032" cy="297180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1" y="2240279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1" y="274320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외부 AI 의존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1" y="3520439"/>
            <a:ext cx="20299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65656"/>
                </a:solidFill>
                <a:latin typeface="맑은 고딕"/>
                <a:ea typeface="맑은 고딕"/>
              </a:rPr>
              <a:t>지금은 외부 AI를 쓰지만, 사내 AI로 갈아끼울 수 있게 준비하기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모두 폐쇄망 금융사라면 똑같이 만나는 벽입니다. 우리는 이미 하나씩 넘어봤습니다.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- 7 -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벽 ① — 닫힌 회사 환경에서 데이터를 가져오기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핵심 질문은 하나였습니다. '사내에만 있는 업무편람 데이터를 어떻게 가져오나?'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사내망에서만 위키에 닿는데, 그 PC엔 개발 도구를 깔 수 없었습니다.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문서를 '꺼내는 일'과 '가공하는 일'을 다른 컴퓨터로 분리했습니다. 금고에서 서류만 꺼내고, 정리는 밖에서 하는 방식입니다.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AI가 위키에 접근하려면 매번 사람이 로그인을 해줘야 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056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이미 로그인된 Windows 계정을 신분증처럼 활용해, 사람 개입 없이 접속하게 했습니다. 인증번호가 매일 바뀌어도 문제없습니다.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C8C89"/>
                </a:solidFill>
                <a:latin typeface="맑은 고딕"/>
                <a:ea typeface="맑은 고딕"/>
              </a:rPr>
              <a:t>화면에 접혀 있던 페이지까지 빠짐없이 모아, 편람을 누락 없이 확보했습니다.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고객사도 똑같은 폐쇄망 환경입니다. 우리는 이미 넘어온 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- 8 -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벽 ② — 매일 조금씩 바뀌는 편람 따라잡기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편람은 매일 조금씩 바뀝니다. 바뀔 때마다 전부 다시 처리하면 시간도 비용도 감당이 안 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바뀐 부분이 어딘지 모르면, 매번 편람 전체를 처음부터 다시 처리해야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문서마다 '지문(내용 표시)'을 찍어두고, 바뀐 문서만 골라 다시 처리합니다. 오타 한 줄 고쳤다고 책 전체를 재인쇄하지 않고, 그 페이지만 교체하는 방식입니다.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데이터가 바뀌어도 상담원이 늘 최신 내용을 봐야 신뢰할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056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매일 자동으로 변경분만 반영해, 불필요한 재처리 없이 항상 최신 상태를 유지합니다.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규정이 수시로 바뀌는 증권 업무에 맞는 방식입니다. 바뀐 만큼만, 자동으로.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- 9 -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벽 ③ — 정확한 답, 그리고 '왜 그 답인지'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발표에서 가장 궁금해하실 지점입니다. 답이 정확한가, 그리고 그 근거를 댈 수 있는가.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'K-OTC' 같은 종목코드·고유명사를, 뜻으로만 찾으면 놓칩니다.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'뜻으로 찾기'와 '단어로 찾기'를 함께 씁니다. 두 방식을 겹치자 검색 정확도가 눈에 띄게 올랐습니다.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AI가 가끔 그럴듯하지만 엉뚱한 답을 내놓습니다.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056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모든 답에 근거 문서·페이지를 붙였습니다. 상담원은 답보다 '근거'를 먼저 보고 판단합니다. 틀려도 어디서 왔는지 즉시 확인됩니다.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C8C89"/>
                </a:solidFill>
                <a:latin typeface="맑은 고딕"/>
                <a:ea typeface="맑은 고딕"/>
              </a:rPr>
              <a:t>평가에서 정답 문서가 항상 상위 3건 안에 포함됨을 확인했고, 문항을 넓혀 검증을 이어가고 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근거 없는 답은 내지 않습니다. AI가 아니라 상담원이 최종 판단합니다.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- 10 -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벽 ④ — 지금은 외부 AI, 그러나 사내 AI로 갈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사내에서 AI 모델을 돌릴 환경이 아직 없어, 지금은 외부 AI를 씁니다. 이걸 어떻게 안전하게, 그리고 나중에 어떻게 바꾸나.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사내에 AI를 돌릴 환경(GPU 등)이 아직 없어 외부 AI에 의존합니다.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지금도 고객 데이터는 쓰지 않고, 밖으로 나가는 데이터는 기록으로 남깁니다. 문서를 '찾는' 부분은 이미 사내용 모델로 전환을 마쳤습니다.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74519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2112263"/>
            <a:ext cx="45354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6600"/>
                </a:solidFill>
                <a:latin typeface="맑은 고딕"/>
                <a:ea typeface="맑은 고딕"/>
              </a:rPr>
              <a:t>문제  </a:t>
            </a: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나중에 사내 AI가 도입되면, 시스템을 다시 만들어야 하지 않나?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0568" y="2926079"/>
            <a:ext cx="45354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7A3C"/>
                </a:solidFill>
                <a:latin typeface="맑은 고딕"/>
                <a:ea typeface="맑은 고딕"/>
              </a:rPr>
              <a:t>해결  </a:t>
            </a: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'모델만 갈아끼우면' 되도록 교체 계층을 미리 설계했습니다. 사내망에 AI가 들어오는 순간 바로 그것으로 바꿀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외부에 의존하는 지금도, 사내로 들어갈 다음도 — 둘 다 준비돼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- 11 -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실제 도입한다면 — 이렇게 올립니다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지금 당장은 아니어도, 도입이 결정되면 바로 올릴 수 있는 그림을 준비했습니다.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1965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39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상담원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63239"/>
            <a:ext cx="1600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질문을 넣고
답·근거를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2743200"/>
            <a:ext cx="292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27832" y="2103120"/>
            <a:ext cx="1965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2377439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서비스(API)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3063239"/>
            <a:ext cx="1600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권한·세션을
관리합니다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2743200"/>
            <a:ext cx="292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9823" y="2103120"/>
            <a:ext cx="1965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32703" y="2377439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검색·답변(RAG)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3" y="3063239"/>
            <a:ext cx="1600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근거를 찾아
답을 구성합니다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7496" y="2743200"/>
            <a:ext cx="292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71815" y="2103120"/>
            <a:ext cx="1965960" cy="178308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54695" y="2377439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지식 저장소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5" y="3063239"/>
            <a:ext cx="1600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기업용 벡터 DB에
안전하게 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2743200"/>
            <a:ext cx="292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C8C89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3807" y="2103120"/>
            <a:ext cx="1965960" cy="178308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76687" y="2377439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AI 모델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7" y="3063239"/>
            <a:ext cx="1600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>
                <a:solidFill>
                  <a:srgbClr val="565656"/>
                </a:solidFill>
                <a:latin typeface="맑은 고딕"/>
                <a:ea typeface="맑은 고딕"/>
              </a:rPr>
              <a:t>사내 모델로
갈아끼웁니다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1605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65656"/>
                </a:solidFill>
                <a:latin typeface="맑은 고딕"/>
                <a:ea typeface="맑은 고딕"/>
              </a:rPr>
              <a:t>PoC에선 가벼운 도구로 빠르게 검증했습니다. </a:t>
            </a:r>
            <a:r>
              <a:rPr sz="1150" b="1">
                <a:solidFill>
                  <a:srgbClr val="FF6600"/>
                </a:solidFill>
                <a:latin typeface="맑은 고딕"/>
                <a:ea typeface="맑은 고딕"/>
              </a:rPr>
              <a:t>실서비스에선 별도 서버와 기업용 벡터 DB</a:t>
            </a:r>
            <a:r>
              <a:rPr sz="1150" b="0">
                <a:solidFill>
                  <a:srgbClr val="565656"/>
                </a:solidFill>
                <a:latin typeface="맑은 고딕"/>
                <a:ea typeface="맑은 고딕"/>
              </a:rPr>
              <a:t>로 올려 안정성과 보안을 확보합니다.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화면·서비스·검색·저장소·모델을 분리해, 나중에 '답변 모델'만 사내용으로 갈아끼울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- 12 -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이걸로 무엇이 좋아지나 — 세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숫자로 겁주는 자리가 아닙니다. 무엇이 어떻게 나아지는지를 먼저 말씀드립니다.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65960"/>
            <a:ext cx="340156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8892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응대 시간이 줄어듭니다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474720"/>
            <a:ext cx="2852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흩어진 지식을 찾아 헤매는 시간이 줄어, 고객 대기와 상담원 부담이 함께 줄어듭니다.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27448" y="1965960"/>
            <a:ext cx="3401568" cy="233172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2240279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8892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답변 품질이 고르게 표준화됩니다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3474720"/>
            <a:ext cx="2852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누가 응대해도 같은 근거로 답하게 되어, 숙련도에 따른 편차와 오안내 위험이 줄어듭니다.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9056" y="1965960"/>
            <a:ext cx="340156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240279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278892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2A2A2A"/>
                </a:solidFill>
                <a:latin typeface="맑은 고딕"/>
                <a:ea typeface="맑은 고딕"/>
              </a:rPr>
              <a:t>신입 교육이 빨라집니다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3474720"/>
            <a:ext cx="2852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AI 코치로 반복 훈련해, 선배가 붙지 않아도 신입이 빠르게 숙련됩니다.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48056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C8C89"/>
                </a:solidFill>
                <a:latin typeface="맑은 고딕"/>
                <a:ea typeface="맑은 고딕"/>
              </a:rPr>
              <a:t>정량 효과(절감 시간·비용 등)는 별도 근거 자료로 준비돼 있으며, 필요 시 공유드립니다.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핵심은 '사람을 줄이는 것'이 아니라, 같은 인력으로 더 빠르고·정확하게·많이 해내는 것입니다.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- 13 -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앞으로의 계획 — 확장의 청사진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더 개발하겠다는 게 아니라, 실제로 도입한다면 무엇이 필요한지를 제시합니다.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적용 범위는 이렇게 넓어집니다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286000"/>
            <a:ext cx="4846320" cy="868680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4323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231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지금 · 업무편람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74320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출처 기반 검색·답변  ✅ 구현·검증 완료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291840"/>
            <a:ext cx="4846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3814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2900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다음 · 사내 문서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749039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게시판·파일서버·PDF까지 같은 방식으로 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97680"/>
            <a:ext cx="4846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4439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4348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비전 · 개인별 지식 허브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754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메일·메신저·회의록까지 묶는 지식 허브로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288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실도입에 필요한 것 (우리가 제시합니다)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28600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4231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사내 AI 환경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7432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AI를 돌릴 사내 GPU 서버 도입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29184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4290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기업용 벡터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749039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PoC용 경량 저장소 → 운영용 기업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29768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4348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국산 금융 LLM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754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데이터 주권·규제 대응을 위한 국산 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23036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맑은 고딕"/>
                <a:ea typeface="맑은 고딕"/>
              </a:rPr>
              <a:t>타 증권사도 이미 같은 방향으로 가고 있습니다.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" y="5596128"/>
            <a:ext cx="10652760" cy="530352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이 프로젝트를 끌고 갈 역량이 우리에게 있다 — 그것을 오늘 보여드렸습니다.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- 14 -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6600"/>
                </a:solidFill>
                <a:latin typeface="맑은 고딕"/>
                <a:ea typeface="맑은 고딕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611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  <a:ea typeface="맑은 고딕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2062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D9D9D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부록 · 질문 대비 백업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9D9D6"/>
                </a:solidFill>
                <a:latin typeface="맑은 고딕"/>
                <a:ea typeface="맑은 고딕"/>
              </a:rPr>
              <a:t>발표 본편에서는 넘어가고, 질문이 나올 때만 펼치는 근거 자료입니다.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부록 A · 답변을 정확하게 만든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기본 검색이 놓치는 것을, 네 가지 신호를 겹쳐 메웠습니다.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965960"/>
            <a:ext cx="2542032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21991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15768"/>
            <a:ext cx="20665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제목·본문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206654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표제어 질문은 제목이, 풀어쓴 질문은 본문이 잡아냅니다.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1023" y="1965960"/>
            <a:ext cx="2542032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2221991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715768"/>
            <a:ext cx="20665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같은 뜻 여러 번 묻기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3429000"/>
            <a:ext cx="206654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질문을 여러 표현으로 던져, 하나라도 명중하면 살립니다.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2511" y="1965960"/>
            <a:ext cx="2542032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5" y="2221991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5" y="2715768"/>
            <a:ext cx="20665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뜻으로 + 단어로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5" y="3429000"/>
            <a:ext cx="206654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의미 검색에 키워드 검색을 겹쳐 종목코드·고유명사를 잡습니다.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3999" y="1965960"/>
            <a:ext cx="2542032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743" y="2221991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3" y="2715768"/>
            <a:ext cx="20665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2A2A"/>
                </a:solidFill>
                <a:latin typeface="맑은 고딕"/>
                <a:ea typeface="맑은 고딕"/>
              </a:rPr>
              <a:t>사내 용어 사전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1743" y="3429000"/>
            <a:ext cx="206654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'예수금=고객예탁금'처럼 사내 용어를 사전 한 줄로 즉시 메웁니다.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네 신호를 겹친 결과, 평가 문항에서 정답이 항상 상위 3건 안에 들어왔습니다.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A -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부록 B · 정량 근거 수치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본편에서는 굳이 내세우지 않되, 물어보시면 바로 답할 수 있는 근거들입니다.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1965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업무편람 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61487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520p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290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누락 0건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27832" y="2103120"/>
            <a:ext cx="1965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235915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적재 조각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761487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1,281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34290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의미 단위 색인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9823" y="2103120"/>
            <a:ext cx="1965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32703" y="235915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검색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3" y="2761487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상위 3건 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3" y="34290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정답 항상 포함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71815" y="2103120"/>
            <a:ext cx="1965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54695" y="235915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출처 부착률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5" y="2761487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4695" y="34290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모든 답변에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3807" y="2103120"/>
            <a:ext cx="1965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76687" y="235915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65656"/>
                </a:solidFill>
                <a:latin typeface="맑은 고딕"/>
                <a:ea typeface="맑은 고딕"/>
              </a:rPr>
              <a:t>재처리 절감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7" y="2761487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맑은 고딕"/>
                <a:ea typeface="맑은 고딕"/>
              </a:rPr>
              <a:t>변경분만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6687" y="34290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65656"/>
                </a:solidFill>
                <a:latin typeface="맑은 고딕"/>
                <a:ea typeface="맑은 고딕"/>
              </a:rPr>
              <a:t>매일 자동 갱신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8C89"/>
                </a:solidFill>
                <a:latin typeface="맑은 고딕"/>
                <a:ea typeface="맑은 고딕"/>
              </a:rPr>
              <a:t>※ 답변 생성 정확도는 30문항 기준 측정값이며, 문항 수를 늘려 검증을 확대하고 있습니다. 억원·ROI 등 비용 효과 수치는 산정 근거와 함께 별도 자료로 보관합니다.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수치는 '증명'을 위한 근거일 뿐, 오늘의 메시지는 '이만큼 만드는 팀'입니다.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B -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8176" y="420624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5656"/>
                </a:solidFill>
                <a:latin typeface="맑은 고딕"/>
                <a:ea typeface="맑은 고딕"/>
              </a:rPr>
              <a:t>한화시스템 ITO · 2026 AX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603504"/>
            <a:ext cx="566928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6600"/>
                </a:solidFill>
                <a:latin typeface="맑은 고딕"/>
                <a:ea typeface="맑은 고딕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8176" y="603504"/>
            <a:ext cx="9509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A2A2A"/>
                </a:solidFill>
                <a:latin typeface="맑은 고딕"/>
                <a:ea typeface="맑은 고딕"/>
              </a:rPr>
              <a:t>부록 C · 타 금융사 RAG 도입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12252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5656"/>
                </a:solidFill>
                <a:latin typeface="맑은 고딕"/>
                <a:ea typeface="맑은 고딕"/>
              </a:rPr>
              <a:t>검증 안 된 실험이 아니라, 업계가 이미 가고 있는 방향을 우리가 직접 구현했습니다.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65960"/>
            <a:ext cx="10424160" cy="749808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093976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하나은행 H-GPT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093976"/>
            <a:ext cx="6309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검색·AI 모드 + 규정 RAG + 출처 표시 (우리와 UX 사실상 동일)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834639"/>
            <a:ext cx="10424160" cy="749808"/>
          </a:xfrm>
          <a:prstGeom prst="roundRect">
            <a:avLst>
              <a:gd name="adj" fmla="val 6000"/>
            </a:avLst>
          </a:prstGeom>
          <a:solidFill>
            <a:srgbClr val="FFF6E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962656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한국은행 BOKI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962656"/>
            <a:ext cx="6309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완전 폐쇄망, 내부문서 140만건 (폐쇄망 선례의 최상위 근거)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703320"/>
            <a:ext cx="104241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31335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신한·미래에셋·키움·한투·IBK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831335"/>
            <a:ext cx="6309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증권사 RAG 챗봇을 온프레미스로 도입 중 (국산 sLLM 포함)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572000"/>
            <a:ext cx="104241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700016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2A2A2A"/>
                </a:solidFill>
                <a:latin typeface="맑은 고딕"/>
                <a:ea typeface="맑은 고딕"/>
              </a:rPr>
              <a:t>일본 MUFG·미즈호·SMBC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00016"/>
            <a:ext cx="6309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65656"/>
                </a:solidFill>
                <a:latin typeface="맑은 고딕"/>
                <a:ea typeface="맑은 고딕"/>
              </a:rPr>
              <a:t>사내 AI로 대규모 문서 검색·업무 시간 절감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5532120"/>
            <a:ext cx="10652760" cy="566928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0" bIns="0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'검증된 방향을 벤더가 아니라 ITO팀이 직접 만들었다' — 그것이 차별점입니다.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10528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ⓒ Hanwha Systems. All rights reserved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651052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8C8C89"/>
                </a:solidFill>
                <a:latin typeface="맑은 고딕"/>
                <a:ea typeface="맑은 고딕"/>
              </a:rPr>
              <a:t>- C 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