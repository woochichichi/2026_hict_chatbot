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맑은 고딕"/>
                <a:ea typeface="맑은 고딕"/>
              </a:rPr>
              <a:t>한화시스템 ITO · 2026 AX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2A2A2A"/>
                </a:solidFill>
                <a:latin typeface="맑은 고딕"/>
                <a:ea typeface="맑은 고딕"/>
              </a:rPr>
              <a:t>ITO </a:t>
            </a:r>
            <a:r>
              <a:rPr sz="3800" b="1">
                <a:solidFill>
                  <a:srgbClr val="FF6600"/>
                </a:solidFill>
                <a:latin typeface="맑은 고딕"/>
                <a:ea typeface="맑은 고딕"/>
              </a:rPr>
              <a:t>AX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803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65656"/>
                </a:solidFill>
                <a:latin typeface="맑은 고딕"/>
                <a:ea typeface="맑은 고딕"/>
              </a:rPr>
              <a:t>직접 만든 RAG 상담 어시스턴트 — 만든 것 · 어려웠던 점 · 앞으로의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9776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197096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맑은 고딕"/>
                <a:ea typeface="맑은 고딕"/>
              </a:rPr>
              <a:t>직접 만들었다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58114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편람을 출처와 함께 답하는 AI를 팀이 직접 구현·검증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9776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4197096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맑은 고딕"/>
                <a:ea typeface="맑은 고딕"/>
              </a:rPr>
              <a:t>난점을 해결했다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58114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개발도구·인증·매일 바뀌는 편람 — 현장 난점을 직접 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776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197096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맑은 고딕"/>
                <a:ea typeface="맑은 고딕"/>
              </a:rPr>
              <a:t>다음을 계획한다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58114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565656"/>
                </a:solidFill>
                <a:latin typeface="맑은 고딕"/>
                <a:ea typeface="맑은 고딕"/>
              </a:rPr>
              <a:t>사내 환경이 갖춰지면 바로 적용되도록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235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2026.07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8932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>
                <a:solidFill>
                  <a:srgbClr val="8C8C89"/>
                </a:solidFill>
                <a:latin typeface="맑은 고딕"/>
                <a:ea typeface="맑은 고딕"/>
              </a:rPr>
              <a:t>RAG: AI가 답을 지어내지 않고 사내 문서에서 근거를 먼저 찾아 답하는 방식 · AX: AI 기반 업무 전환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오늘, 이 세 가지만 기억하시면 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사례 → 역량 → 계획. 제품을 팔러 온 자리가 아니라, 이만큼 만드는 팀이라는 걸 보여드립니다.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5856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① 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맑은 고딕"/>
                <a:ea typeface="맑은 고딕"/>
              </a:rPr>
              <a:t>직접 만든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6616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편람 520p 수집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출처와 함께 답하는 AI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팀이 직접 구현·검증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196596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225856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②  역량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7889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맑은 고딕"/>
                <a:ea typeface="맑은 고딕"/>
              </a:rPr>
              <a:t>난점을 넘은 실행력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356616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개발도구 없는 PC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위키 인증·매일 바뀌는 편람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현장 난점을 직접 해결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196596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2258568"/>
            <a:ext cx="2852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6600"/>
                </a:solidFill>
                <a:latin typeface="맑은 고딕"/>
                <a:ea typeface="맑은 고딕"/>
              </a:rPr>
              <a:t>③ 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78892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맑은 고딕"/>
                <a:ea typeface="맑은 고딕"/>
              </a:rPr>
              <a:t>실도입·확장 청사진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356616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사내 환경 갖춰지면 즉시 적용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다음 확장까지 설계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끌고 갈 역량 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제품을 파는 자리가 아닙니다. ITO팀이 이만큼 만들 수 있는 팀이라는 걸 보여드리는 자리입니다.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59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상담의 병목은 사람이 아니라 '흩어진 지식'입니다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제도·상품이 자주 바뀌는 증권 상담 — 정작 시간을 잡아먹는 건 '지식을 찾는 방식'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6596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22199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15768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맑은 고딕"/>
                <a:ea typeface="맑은 고딕"/>
              </a:rPr>
              <a:t>분산된 지식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1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편람·위키·공지·메신저가 흩어짐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필요한 내용까지 검색 경로가 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196596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2199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715768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맑은 고딕"/>
                <a:ea typeface="맑은 고딕"/>
              </a:rPr>
              <a:t>변경 반영 시차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3136391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제도·상품·수수료 변경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현장 숙지까지 시차 → 오안내 위험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96596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222199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715768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맑은 고딕"/>
                <a:ea typeface="맑은 고딕"/>
              </a:rPr>
              <a:t>응대 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136391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숙련도에 따라 검색어·표현·누락이 다름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상담 품질이 들쭉날쭉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224528"/>
            <a:ext cx="10424160" cy="548640"/>
          </a:xfrm>
          <a:prstGeom prst="roundRect">
            <a:avLst>
              <a:gd name="adj" fmla="val 8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▶  상담 현장 영상 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지금 상담원이 겪는 상황을 먼저 보여드린 뒤, 우리가 만든 화면으로 이어집니다.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문제는 상담원이 아니라, 지식을 찾는 '방식'입니다.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53512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우리가 만든 것 — 세 가지 일을 하나로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단일 데모가 아니라, 상담 현장에 실제로 필요한 세 가지 업무를 하나의 도구로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6596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답변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질문에 필요한 답·근거 즉시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추천 응대 멘트 + 출처 링크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196596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업무편람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324612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절차·예외 기준·처리 방법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출처(문서·페이지)와 함께 제공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965960"/>
            <a:ext cx="340156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신입 교육 (AI 코치)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24612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AI 고객과 대화 → 즉시 채점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모범답안 제시 (페르소나 8종)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처음엔 상담원의 내부 보조 도구로. 성능·보안·운영이 검증되면 접점을 넓혀갑니다.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53512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편람을 'AI가 찾을 수 있는 형태'로 바꿉니다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통째로 넣지 않습니다. '찾아지는 카드 묶음'으로 바꿔 두는 것이 핵심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240280"/>
            <a:ext cx="2331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780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맑은 고딕"/>
                <a:ea typeface="맑은 고딕"/>
              </a:rPr>
              <a:t>위키·문서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흩어진 원문을 모음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770632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240280"/>
            <a:ext cx="2331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4780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9718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맑은 고딕"/>
                <a:ea typeface="맑은 고딕"/>
              </a:rPr>
              <a:t>조각으로 나누기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33756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의미 단위로 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770632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240280"/>
            <a:ext cx="2331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4780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718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맑은 고딕"/>
                <a:ea typeface="맑은 고딕"/>
              </a:rPr>
              <a:t>의미로 색인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33756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AI가 '뜻'으로 찾게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2770632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2240280"/>
            <a:ext cx="2331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47802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6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97180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A2A"/>
                </a:solidFill>
                <a:latin typeface="맑은 고딕"/>
                <a:ea typeface="맑은 고딕"/>
              </a:rPr>
              <a:t>출처와 함께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33756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어디서 왔는지 부착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06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여기에 더해, </a:t>
            </a:r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답변 정확도를 높이는 우리만의 장치</a:t>
            </a:r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를 얹었습니다 (뒤 '어려웠던 점'에서 설명)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편람을 통째로 저장하지 않고, '검색되는 카드 묶음'으로 바꿔 둡니다.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4064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만들면서 부딪힌 어려웠던 점 — 그리고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편람을 AI가 읽게 만드는 길의 난점 — 고객사 폐쇄망 환경에도 똑같이 존재합니다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1965960"/>
            <a:ext cx="254203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21991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15768"/>
            <a:ext cx="20299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닫힌 회사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74720"/>
            <a:ext cx="20299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개발도구·자동 로그인 없음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데이터를 어떻게 가져오나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3" y="1965960"/>
            <a:ext cx="254203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5" y="2221991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5" y="2715768"/>
            <a:ext cx="20299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매일 바뀌는 편람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5" y="3474720"/>
            <a:ext cx="20299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조금씩 바뀌는 내용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매번 전부 다시 하지 않고 갱신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1" y="1965960"/>
            <a:ext cx="254203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3" y="2221991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3" y="2715768"/>
            <a:ext cx="20299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정확한 답과 근거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3" y="3474720"/>
            <a:ext cx="20299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엉뚱한 답 차단·종목코드 검색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'왜 그 답인지' 근거 부착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965960"/>
            <a:ext cx="2542032" cy="292608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1" y="2221991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1" y="2715768"/>
            <a:ext cx="20299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2A2A2A"/>
                </a:solidFill>
                <a:latin typeface="맑은 고딕"/>
                <a:ea typeface="맑은 고딕"/>
              </a:rPr>
              <a:t>외부 AI 의존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1" y="3474720"/>
            <a:ext cx="202996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지금은 외부 AI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사내 AI로 갈아끼울 준비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모두 폐쇄망 금융사라면 똑같이 만나는 난점입니다. 우리는 이미 하나씩 해결했습니다.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4064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어려웠던 점 ① — 닫힌 회사 환경에서 데이터 가져오기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핵심 질문: '사내에만 있는 업무편람 데이터를 어떻게 가져오나?'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사내망에서만 위키 접근 가능 — 그 PC엔 개발 도구를 깔 수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'꺼내는 일'과 '가공하는 일'을 다른 컴퓨터로 분리. 금고에선 서류만 꺼내고, 정리는 밖에서 하는 방식.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AI가 위키에 접근하려면 매번 사람이 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이미 로그인된 Windows 계정을 신분증처럼 활용 → 무인 접속. 매일 바뀌는 인증번호도 무관.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↳ </a:t>
            </a:r>
            <a:r>
              <a:rPr sz="1050" b="0">
                <a:solidFill>
                  <a:srgbClr val="8C8C89"/>
                </a:solidFill>
                <a:latin typeface="맑은 고딕"/>
                <a:ea typeface="맑은 고딕"/>
              </a:rPr>
              <a:t>화면에 접혀 있던 페이지까지 빠짐없이 수집 — 편람 누락 0건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고객사도 똑같은 폐쇄망 환경입니다. 우리는 이미 넘어온 길입니다.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4064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어려웠던 점 ② — 매일 조금씩 바뀌는 편람 따라잡기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편람은 매일 조금씩 바뀜 — 매번 전부 다시 처리하면 시간·비용 감당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어디가 바뀌었는지 모르면, 매번 편람 전체를 처음부터 재처리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문서마다 '지문(내용 표시)'을 찍어두고 바뀐 문서만 재처리. 오타 한 줄에 책 전체를 재인쇄하지 않고, 그 페이지만 교체하는 방식.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상담원은 늘 최신 내용을 봐야 신뢰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매일 자동으로 변경분만 반영 → 항상 최신 상태. 불필요한 재처리 제거.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규정이 수시로 바뀌는 증권 업무에 맞는 방식입니다. 바뀐 만큼만, 자동으로.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4064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어려웠던 점 ③ — 정확한 답, 그리고 '왜 그 답인지'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발표에서 가장 궁금해하실 지점 — 답이 정확한가, 그 근거를 댈 수 있는가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'K-OTC' 같은 종목코드·고유명사를 '뜻'으로만 찾으면 놓침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'뜻으로 찾기' + '단어로 찾기'를 함께 사용. 두 방식을 겹치자 검색 정확도가 눈에 띄게 상승.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AI가 가끔 그럴듯하지만 엉뚱한 답을 내놓음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모든 답에 근거 문서·페이지 부착 → 답보다 '근거'를 먼저 확인. 틀려도 어디서 왔는지 즉시 추적.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↳ </a:t>
            </a:r>
            <a:r>
              <a:rPr sz="1050" b="0">
                <a:solidFill>
                  <a:srgbClr val="8C8C89"/>
                </a:solidFill>
                <a:latin typeface="맑은 고딕"/>
                <a:ea typeface="맑은 고딕"/>
              </a:rPr>
              <a:t>평가에서 정답 문서가 항상 상위 3건 안에 포함됨을 확인 (문항 확대 검증 중)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근거 없는 답은 내지 않습니다. AI가 아니라 상담원이 최종 판단합니다.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4064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어려웠던 점 ④ — 지금은 외부 AI, 그러나 사내 AI로 갈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사내에서 AI를 돌릴 환경이 아직 없음 — 안전하게, 그리고 나중에 교체 가능하게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사내에 AI 구동 환경(GPU 등) 부재 → 외부 AI에 의존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고객 데이터는 미사용, 나가는 데이터는 로그로 기록. 문서 '찾기'(임베딩)는 이미 사내 모델로 전환 완료.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2024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57984"/>
            <a:ext cx="4535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어려웠던 점  </a:t>
            </a: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나중에 사내 AI 도입 시 시스템을 다시 만들어야 하나?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017520"/>
            <a:ext cx="4535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E7A3C"/>
                </a:solidFill>
                <a:latin typeface="맑은 고딕"/>
                <a:ea typeface="맑은 고딕"/>
              </a:rPr>
              <a:t>해결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'모델만 갈아끼우면' 되도록 교체 계층을 미리 설계. 사내망에 AI가 들어오는 즉시 전환.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외부에 의존하는 지금도, 사내로 들어갈 다음도 — 둘 다 준비돼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14616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8A8A4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시연 — 답을 찾는 AI, 사람을 키우는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개념이 아니라 실제로 동작하는 화면 (기존 5분 발표 영상 활용)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176272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응대 모드 — 상담원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70048"/>
            <a:ext cx="4535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두서없는 질문도 근거를 먼저 검색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정리된 답변 + 추천 응대 멘트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703320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모든 답변 출처 부착 · 신뢰도 상/중/하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176272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AI 코치 모드 — 즉시 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670048"/>
            <a:ext cx="4535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AI가 8종 고객으로 질문</a:t>
            </a:r>
          </a:p>
          <a:p>
            <a:pPr algn="l">
              <a:lnSpc>
                <a:spcPct val="150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신입 응대 → 점수·누락·모범답안 즉시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703320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6600"/>
                </a:solidFill>
                <a:latin typeface="맑은 고딕"/>
                <a:ea typeface="맑은 고딕"/>
              </a:rPr>
              <a:t>페르소나 8종 · 난이도 3단계 · 약점 복습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40740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40740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맑은 고딕"/>
                <a:ea typeface="맑은 고딕"/>
              </a:rPr>
              <a:t>▶  우리가 만든 화면   </a:t>
            </a: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실제 질문을 던지면 근거와 함께 답이 나오는 과정을 영상으로.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편람을 찾아줄 뿐 아니라 응대 멘트까지 — 신입은 선배 없이도 반복 훈련으로 숙련됩니다.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45168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이걸로 무엇이 좋아지나 — 세 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숫자로 겁주는 자리가 아닙니다. 무엇이 어떻게 나아지는지를 먼저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6596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응대 시간 단축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지식 탐색 시간 감소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고객 대기·상담원 부담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196596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답변 품질 표준화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32004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누가 응대해도 같은 근거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숙련도 편차·오안내 위험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196596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22402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7523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2A2A2A"/>
                </a:solidFill>
                <a:latin typeface="맑은 고딕"/>
                <a:ea typeface="맑은 고딕"/>
              </a:rPr>
              <a:t>신입 교육 가속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2004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AI 코치로 반복 훈련</a:t>
            </a:r>
          </a:p>
          <a:p>
            <a:pPr algn="l">
              <a:lnSpc>
                <a:spcPct val="145000"/>
              </a:lnSpc>
            </a:pP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선배 없이도 빠른 숙련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C8C89"/>
                </a:solidFill>
                <a:latin typeface="맑은 고딕"/>
                <a:ea typeface="맑은 고딕"/>
              </a:rPr>
              <a:t>정량 효과(절감 시간·비용 등)는 별도 근거 자료로 준비 — 필요 시 공유(부록 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핵심은 '사람을 줄이는 것'이 아니라, 같은 인력으로 더 빠르고·정확하게·많이 해내는 것입니다.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45168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실제 도입한다면 — 이렇게 올립니다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지금 당장은 아니어도, 도입이 결정되면 바로 올릴 수 있는 그림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4884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상담원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65656"/>
                </a:solidFill>
                <a:latin typeface="맑은 고딕"/>
                <a:ea typeface="맑은 고딕"/>
              </a:rPr>
              <a:t>질문 입력
답·근거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770632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14884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423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서비스(API)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063240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65656"/>
                </a:solidFill>
                <a:latin typeface="맑은 고딕"/>
                <a:ea typeface="맑은 고딕"/>
              </a:rPr>
              <a:t>권한·세션
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770632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9823" y="214884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3" y="2423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검색·답변(RAG)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2703" y="3063240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65656"/>
                </a:solidFill>
                <a:latin typeface="맑은 고딕"/>
                <a:ea typeface="맑은 고딕"/>
              </a:rPr>
              <a:t>근거 검색
답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770632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71815" y="214884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5" y="2423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지식 저장소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5" y="3063240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65656"/>
                </a:solidFill>
                <a:latin typeface="맑은 고딕"/>
                <a:ea typeface="맑은 고딕"/>
              </a:rPr>
              <a:t>기업용 벡터 DB
안전 보관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770632"/>
            <a:ext cx="292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C8C89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93807" y="214884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7" y="2423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AI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7" y="3063240"/>
            <a:ext cx="1600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565656"/>
                </a:solidFill>
                <a:latin typeface="맑은 고딕"/>
                <a:ea typeface="맑은 고딕"/>
              </a:rPr>
              <a:t>사내 모델로
교체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605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PoC에선 가벼운 도구로 검증. </a:t>
            </a:r>
            <a:r>
              <a:rPr sz="1150" b="1">
                <a:solidFill>
                  <a:srgbClr val="FF6600"/>
                </a:solidFill>
                <a:latin typeface="맑은 고딕"/>
                <a:ea typeface="맑은 고딕"/>
              </a:rPr>
              <a:t>실서비스는 별도 서버 + 기업용 벡터 DB</a:t>
            </a:r>
            <a:r>
              <a:rPr sz="1150" b="0">
                <a:solidFill>
                  <a:srgbClr val="565656"/>
                </a:solidFill>
                <a:latin typeface="맑은 고딕"/>
                <a:ea typeface="맑은 고딕"/>
              </a:rPr>
              <a:t>로 올려 안정성·보안 확보.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화면·서비스·검색·저장소·모델을 분리 — 나중에 '답변 모델'만 사내용으로 갈아끼웁니다.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59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1 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3512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2  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4064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3  어려웠던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4616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65656"/>
                </a:solidFill>
                <a:latin typeface="맑은 고딕"/>
                <a:ea typeface="맑은 고딕"/>
              </a:rPr>
              <a:t>4 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45168" y="274320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5168" y="274320"/>
            <a:ext cx="2020824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5 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1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>
                <a:solidFill>
                  <a:srgbClr val="2A2A2A"/>
                </a:solidFill>
                <a:latin typeface="맑은 고딕"/>
                <a:ea typeface="맑은 고딕"/>
              </a:rPr>
              <a:t>앞으로의 계획 — 확장의 청사진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98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더 개발하겠다는 게 아니라, 실제 도입 시 무엇이 필요한지를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적용 범위는 이렇게 넓어집니다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286000"/>
            <a:ext cx="4846320" cy="841248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3230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42316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지금 · 업무편람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7432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출처 기반 검색·답변  ✅ 구현·검증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273552"/>
            <a:ext cx="48463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4107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다음 · 사내 문서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07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게시판·파일서버·PDF까지 같은 방식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261104"/>
            <a:ext cx="48463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4074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39826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비전 · 개인별 지식 허브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71830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메일·메신저·회의록까지 묶는 허브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828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실도입에 필요한 것 (우리가 제시합니다)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286000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231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사내 AI 환경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743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AI를 돌릴 사내 GPU 서버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273552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1071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기업용 벡터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307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PoC 경량 저장소 → 운영용 기업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61104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3982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국산 금융 LLM 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183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데이터 주권·규제 대응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3036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타 증권사도 이미 같은 방향으로 가고 있습니다.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" y="5596128"/>
            <a:ext cx="10652760" cy="53035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이 프로젝트를 끌고 갈 역량이 우리에게 있다 — 그것을 오늘 보여드렸습니다.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6600"/>
                </a:solidFill>
                <a:latin typeface="맑은 고딕"/>
                <a:ea typeface="맑은 고딕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206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9D9D6"/>
                </a:solidFill>
                <a:latin typeface="맑은 고딕"/>
                <a:ea typeface="맑은 고딕"/>
              </a:rPr>
              <a:t>한화시스템 ITO · 2026 AX Day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부록 · 질문 대비 백업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D9D9D6"/>
                </a:solidFill>
                <a:latin typeface="맑은 고딕"/>
                <a:ea typeface="맑은 고딕"/>
              </a:rPr>
              <a:t>발표 본편에서는 넘어가고, 질문이 나올 때만 펼치는 근거 자료입니다.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786384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  <a:latin typeface="맑은 고딕"/>
                <a:ea typeface="맑은 고딕"/>
              </a:rPr>
              <a:t>부록 A · 답변을 정확하게 만든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350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기본 검색이 놓치는 것을, 네 가지 신호를 겹쳐 메웠습니다.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" y="1874519"/>
            <a:ext cx="254203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12263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87752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제목·본문 함께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206654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표제어는 제목이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풀어쓴 질문은 본문이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1023" y="1874519"/>
            <a:ext cx="254203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112263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587752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같은 뜻 여러 번 묻기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291839"/>
            <a:ext cx="206654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여러 표현으로 질의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하나라도 명중하면 채택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1" y="1874519"/>
            <a:ext cx="254203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5" y="2112263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2587752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뜻으로 + 단어로 찾기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5" y="3291839"/>
            <a:ext cx="206654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의미 검색 + 키워드 검색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종목코드·고유명사 포착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3999" y="1874519"/>
            <a:ext cx="254203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3" y="2112263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2587752"/>
            <a:ext cx="20665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A2A2A"/>
                </a:solidFill>
                <a:latin typeface="맑은 고딕"/>
                <a:ea typeface="맑은 고딕"/>
              </a:rPr>
              <a:t>사내 용어 사전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291839"/>
            <a:ext cx="206654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'예수금=고객예탁금'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FF6600"/>
                </a:solidFill>
                <a:latin typeface="맑은 고딕"/>
                <a:ea typeface="맑은 고딕"/>
              </a:rPr>
              <a:t>· </a:t>
            </a:r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사전 한 줄로 즉시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네 신호를 겹친 결과, 평가 문항에서 정답이 항상 상위 3건 안에 들어왔습니다.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A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786384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  <a:latin typeface="맑은 고딕"/>
                <a:ea typeface="맑은 고딕"/>
              </a:rPr>
              <a:t>부록 B · 정량 근거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350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본편에선 굳이 내세우지 않되, 물어보시면 바로 답할 수 있는 근거들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01168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677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업무편람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700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520p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누락 0건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7832" y="201168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2677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적재 조각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700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1,281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33375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의미 단위 색인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9823" y="201168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2703" y="22677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검색 정확도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3" y="26700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상위 3건 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3" y="33375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정답 항상 포함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71815" y="201168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4695" y="22677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출처 부착률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5" y="26700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5" y="33375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모든 답변에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93807" y="201168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7" y="22677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65656"/>
                </a:solidFill>
                <a:latin typeface="맑은 고딕"/>
                <a:ea typeface="맑은 고딕"/>
              </a:rPr>
              <a:t>재처리 절감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7" y="26700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6600"/>
                </a:solidFill>
                <a:latin typeface="맑은 고딕"/>
                <a:ea typeface="맑은 고딕"/>
              </a:rPr>
              <a:t>변경분만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7" y="33375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65656"/>
                </a:solidFill>
                <a:latin typeface="맑은 고딕"/>
                <a:ea typeface="맑은 고딕"/>
              </a:rPr>
              <a:t>매일 자동 갱신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C8C89"/>
                </a:solidFill>
                <a:latin typeface="맑은 고딕"/>
                <a:ea typeface="맑은 고딕"/>
              </a:rPr>
              <a:t>※ 답변 생성 정확도는 30문항 기준 측정값 — 문항을 늘려 검증 확대 중. 억원·ROI 등 비용 효과 수치는 산정 근거와 함께 별도 자료로 보관.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수치는 '증명'을 위한 근거일 뿐, 오늘의 메시지는 '이만큼 만드는 팀'입니다.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B 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600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786384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2A2A"/>
                </a:solidFill>
                <a:latin typeface="맑은 고딕"/>
                <a:ea typeface="맑은 고딕"/>
              </a:rPr>
              <a:t>부록 C · 타 금융사 RAG 도입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350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65656"/>
                </a:solidFill>
                <a:latin typeface="맑은 고딕"/>
                <a:ea typeface="맑은 고딕"/>
              </a:rPr>
              <a:t>검증 안 된 실험이 아니라, 업계가 이미 가는 방향을 우리가 직접 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74519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874519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하나은행 H-GPT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74519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검색·AI 모드 + 규정 RAG + 출처 표시 (우리와 UX 사실상 동일)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FF6E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한국은행 BOKI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완전 폐쇄망, 내부문서 140만건 (폐쇄망 선례의 최상위 근거)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611880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80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신한·미래에셋·키움·한투·IBK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611880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증권사 RAG 챗봇 온프레미스 도입 중 (국산 sLLM 포함)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80560"/>
            <a:ext cx="10424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80560"/>
            <a:ext cx="3566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2A2A2A"/>
                </a:solidFill>
                <a:latin typeface="맑은 고딕"/>
                <a:ea typeface="맑은 고딕"/>
              </a:rPr>
              <a:t>일본 MUFG·미즈호·SMBC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80560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65656"/>
                </a:solidFill>
                <a:latin typeface="맑은 고딕"/>
                <a:ea typeface="맑은 고딕"/>
              </a:rPr>
              <a:t>사내 AI로 대규모 문서 검색·업무 시간 절감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5532120"/>
            <a:ext cx="10652760" cy="56692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'검증된 방향을 벤더가 아니라 ITO팀이 직접 만들었다' — 그것이 차별점입니다.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528816"/>
            <a:ext cx="2926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ⓒ Hanwha Systems. All rights 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6528816"/>
            <a:ext cx="7772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9"/>
                </a:solidFill>
                <a:latin typeface="맑은 고딕"/>
                <a:ea typeface="맑은 고딕"/>
              </a:rPr>
              <a:t>- C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