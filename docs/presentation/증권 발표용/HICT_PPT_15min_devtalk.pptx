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2026 ITO AX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ECECEE"/>
                </a:solidFill>
                <a:latin typeface="맑은 고딕"/>
                <a:ea typeface="맑은 고딕"/>
              </a:rPr>
              <a:t>편람을 답하는 AI를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ECECEE"/>
                </a:solidFill>
                <a:latin typeface="맑은 고딕"/>
                <a:ea typeface="맑은 고딕"/>
              </a:rPr>
              <a:t>직접 </a:t>
            </a:r>
            <a:r>
              <a:rPr sz="4400" b="1">
                <a:solidFill>
                  <a:srgbClr val="5EEAD4"/>
                </a:solidFill>
                <a:latin typeface="맑은 고딕"/>
                <a:ea typeface="맑은 고딕"/>
              </a:rPr>
              <a:t>만들었습니다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9EAB"/>
                </a:solidFill>
                <a:latin typeface="맑은 고딕"/>
                <a:ea typeface="맑은 고딕"/>
              </a:rPr>
              <a:t>RAG 상담 어시스턴트 — 만든 것 · 넘은 벽 · 앞으로의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맑은 고딕"/>
                <a:ea typeface="맑은 고딕"/>
              </a:rPr>
              <a:t>#RAG   #폐쇄망_온프레미스   #하이브리드검색   #사내전환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806440"/>
            <a:ext cx="2743200" cy="18288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ITO팀  ·  2026.07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RAG: AI가 답을 지어내지 않고 사내 문서에서 근거를 먼저 찾아 답하는 방식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TL;DR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세 줄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5EEAD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6700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ECECEE"/>
                </a:solidFill>
                <a:latin typeface="맑은 고딕"/>
                <a:ea typeface="맑은 고딕"/>
              </a:rPr>
              <a:t>만들었다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7432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9EAB"/>
                </a:solidFill>
                <a:latin typeface="맑은 고딕"/>
                <a:ea typeface="맑은 고딕"/>
              </a:rPr>
              <a:t>편람을 출처와 함께 답하는 RAG를 팀이 직접 구현하고 수치로 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11880"/>
            <a:ext cx="105156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22191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5EEAD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84047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ECECEE"/>
                </a:solidFill>
                <a:latin typeface="맑은 고딕"/>
                <a:ea typeface="맑은 고딕"/>
              </a:rPr>
              <a:t>넘었다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913631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9EAB"/>
                </a:solidFill>
                <a:latin typeface="맑은 고딕"/>
                <a:ea typeface="맑은 고딕"/>
              </a:rPr>
              <a:t>폐쇄망·인증·최신성·외부 AI — 현장의 벽 네 가지를 직접 해결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82312"/>
            <a:ext cx="105156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92624"/>
            <a:ext cx="1097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5EEAD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091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ECECEE"/>
                </a:solidFill>
                <a:latin typeface="맑은 고딕"/>
                <a:ea typeface="맑은 고딕"/>
              </a:rPr>
              <a:t>계획한다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084064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9EAB"/>
                </a:solidFill>
                <a:latin typeface="맑은 고딕"/>
                <a:ea typeface="맑은 고딕"/>
              </a:rPr>
              <a:t>사내 AI 전환과 확장까지 설계 — 끌고 갈 역량을 보여준다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제품을 파는 자리가 아니라, 이만큼 만드는 팀이라는 걸 보여주는 자리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01 · 왜 만들었나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상담의 병목은 사람이 아니라 '흩어진 지식'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제도·상품이 자주 바뀌는 증권 상담 — 시간을 잡아먹는 건 '지식을 찾는 방식'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620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맑은 고딕"/>
                <a:ea typeface="맑은 고딕"/>
              </a:rPr>
              <a:t>분산된 지식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9864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편람·위키·공지·메신저가 흩어져 검색 경로가 길다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105156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478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맑은 고딕"/>
                <a:ea typeface="맑은 고딕"/>
              </a:rPr>
              <a:t>변경 반영 시차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8444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제도·상품 변경 후 현장 숙지까지 시차 → 오안내 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23360"/>
            <a:ext cx="105156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336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ECEE"/>
                </a:solidFill>
                <a:latin typeface="맑은 고딕"/>
                <a:ea typeface="맑은 고딕"/>
              </a:rPr>
              <a:t>응대 편차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7024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숙련도에 따라 검색어·표현·누락이 달라 품질이 들쭉날쭉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074920"/>
            <a:ext cx="54864" cy="5029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7492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Consolas"/>
                <a:ea typeface="Consolas"/>
              </a:rPr>
              <a:t>▶ 상담 현장 영상  </a:t>
            </a:r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지금 상담원이 겪는 상황을 먼저 보여준 뒤, 우리가 만든 화면으로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문제는 상담원이 아니라, 지식을 찾는 '방식'이다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02 · 무엇을 만들었나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세 가지 일을 하나의 도구로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단일 데모가 아니라 상담 현장에 필요한 세 업무를 통합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80360"/>
            <a:ext cx="3410712" cy="228600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17296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657600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ECECEE"/>
                </a:solidFill>
                <a:latin typeface="맑은 고딕"/>
                <a:ea typeface="맑은 고딕"/>
              </a:rPr>
              <a:t>답변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160520"/>
            <a:ext cx="2825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질문에 필요한 답·근거를 즉시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727448"/>
            <a:ext cx="2825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맑은 고딕"/>
                <a:ea typeface="맑은 고딕"/>
              </a:rPr>
              <a:t>+ 추천 응대 멘트 · 출처 링크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2880360"/>
            <a:ext cx="3410712" cy="228600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17296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657600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ECECEE"/>
                </a:solidFill>
                <a:latin typeface="맑은 고딕"/>
                <a:ea typeface="맑은 고딕"/>
              </a:rPr>
              <a:t>업무편람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160520"/>
            <a:ext cx="2825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절차·예외·처리 방법을 출처와 함께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727448"/>
            <a:ext cx="2825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맑은 고딕"/>
                <a:ea typeface="맑은 고딕"/>
              </a:rPr>
              <a:t>+ 문서·페이지 단위 근거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2880360"/>
            <a:ext cx="3410712" cy="228600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317296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3657600"/>
            <a:ext cx="2825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ECECEE"/>
                </a:solidFill>
                <a:latin typeface="맑은 고딕"/>
                <a:ea typeface="맑은 고딕"/>
              </a:rPr>
              <a:t>신입 교육 (AI 코치)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4160520"/>
            <a:ext cx="282549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AI 고객과 대화 → 즉시 채점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727448"/>
            <a:ext cx="28254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D4BF"/>
                </a:solidFill>
                <a:latin typeface="맑은 고딕"/>
                <a:ea typeface="맑은 고딕"/>
              </a:rPr>
              <a:t>+ 모범답안 · 페르소나 8종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처음엔 상담원 보조 도구로. 검증되면 접점을 넓힌다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03 · 시연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답을 찾는 AI, 사람을 키우는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개념이 아니라 실제로 동작하는 화면 (기존 5분 발표 영상 활용)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5257800" cy="237744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81527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EEAD4"/>
                </a:solidFill>
                <a:latin typeface="맑은 고딕"/>
                <a:ea typeface="맑은 고딕"/>
              </a:rPr>
              <a:t>응대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447287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CEE"/>
                </a:solidFill>
                <a:latin typeface="맑은 고딕"/>
                <a:ea typeface="맑은 고딕"/>
              </a:rPr>
              <a:t>상담원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77639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5EEAD4"/>
                </a:solidFill>
                <a:latin typeface="맑은 고딕"/>
                <a:ea typeface="맑은 고딕"/>
              </a:rPr>
              <a:t>· </a:t>
            </a: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두서없는 질문도 근거를 먼저 검색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5EEAD4"/>
                </a:solidFill>
                <a:latin typeface="맑은 고딕"/>
                <a:ea typeface="맑은 고딕"/>
              </a:rPr>
              <a:t>· </a:t>
            </a: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정리된 답변 + 추천 응대 멘트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54879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D4BF"/>
                </a:solidFill>
                <a:latin typeface="맑은 고딕"/>
                <a:ea typeface="맑은 고딕"/>
              </a:rPr>
              <a:t>출처 100% · 신뢰도 상/중/하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88920"/>
            <a:ext cx="5257800" cy="237744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081527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EEAD4"/>
                </a:solidFill>
                <a:latin typeface="맑은 고딕"/>
                <a:ea typeface="맑은 고딕"/>
              </a:rPr>
              <a:t>AI 코치 모드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47287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CECEE"/>
                </a:solidFill>
                <a:latin typeface="맑은 고딕"/>
                <a:ea typeface="맑은 고딕"/>
              </a:rPr>
              <a:t>즉시 채점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77639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5EEAD4"/>
                </a:solidFill>
                <a:latin typeface="맑은 고딕"/>
                <a:ea typeface="맑은 고딕"/>
              </a:rPr>
              <a:t>· </a:t>
            </a: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AI가 8종 고객으로 질문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5EEAD4"/>
                </a:solidFill>
                <a:latin typeface="맑은 고딕"/>
                <a:ea typeface="맑은 고딕"/>
              </a:rPr>
              <a:t>· </a:t>
            </a: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응대 → 점수·누락·모범답안 즉시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79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D4BF"/>
                </a:solidFill>
                <a:latin typeface="맑은 고딕"/>
                <a:ea typeface="맑은 고딕"/>
              </a:rPr>
              <a:t>페르소나 8 · 난이도 3 · 약점 복습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편람을 찾아줄 뿐 아니라 응대 멘트까지 — 신입은 선배 없이 숙련된다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04 · 어떻게 동작하나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편람을 'AI가 찾을 수 있는 형태'로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통째로 넣지 않고 '찾아지는 카드 묶음'으로 바꿔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17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73552"/>
            <a:ext cx="1783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84448"/>
            <a:ext cx="1783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ECEE"/>
                </a:solidFill>
                <a:latin typeface="맑은 고딕"/>
                <a:ea typeface="맑은 고딕"/>
              </a:rPr>
              <a:t>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05072"/>
            <a:ext cx="1783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위키·문서 원문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3429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EEAD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017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273552"/>
            <a:ext cx="1783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584448"/>
            <a:ext cx="1783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ECEE"/>
                </a:solidFill>
                <a:latin typeface="맑은 고딕"/>
                <a:ea typeface="맑은 고딕"/>
              </a:rPr>
              <a:t>분할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005072"/>
            <a:ext cx="1783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의미 단위 조각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4455" y="3429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EEAD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017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73552"/>
            <a:ext cx="1783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84448"/>
            <a:ext cx="1783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ECEE"/>
                </a:solidFill>
                <a:latin typeface="맑은 고딕"/>
                <a:ea typeface="맑은 고딕"/>
              </a:rPr>
              <a:t>색인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05072"/>
            <a:ext cx="1783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뜻으로 검색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5" y="34290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EEAD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017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273552"/>
            <a:ext cx="1783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584448"/>
            <a:ext cx="1783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ECEE"/>
                </a:solidFill>
                <a:latin typeface="맑은 고딕"/>
                <a:ea typeface="맑은 고딕"/>
              </a:rPr>
              <a:t>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005072"/>
            <a:ext cx="1783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출처와 함께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여기에 </a:t>
            </a:r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답변 정확도를 높이는 장치</a:t>
            </a:r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를 얹었다 — 다음 장에서.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편람 = '검색되는 카드 묶음' — 조각 + 의미 + 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05 · 어려웠던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부딪힌 벽 4가지, 그리고 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폐쇄망 금융사라면 똑같이 만나는 난점 — 하나씩 넘었다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7919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ECEE"/>
                </a:solidFill>
                <a:latin typeface="맑은 고딕"/>
                <a:ea typeface="맑은 고딕"/>
              </a:rPr>
              <a:t>닫힌 회사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7249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개발도구·자동 로그인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72491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→ </a:t>
            </a:r>
            <a:r>
              <a:rPr sz="1200" b="0">
                <a:solidFill>
                  <a:srgbClr val="5EEAD4"/>
                </a:solidFill>
                <a:latin typeface="맑은 고딕"/>
                <a:ea typeface="맑은 고딕"/>
              </a:rPr>
              <a:t>수집·가공 머신 분리 + Windows 무인 인증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172968"/>
            <a:ext cx="105156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1071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9242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ECEE"/>
                </a:solidFill>
                <a:latin typeface="맑은 고딕"/>
                <a:ea typeface="맑은 고딕"/>
              </a:rPr>
              <a:t>매일 바뀌는 편람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381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매번 전체 재처리는 감당 불가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43814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→ </a:t>
            </a:r>
            <a:r>
              <a:rPr sz="1200" b="0">
                <a:solidFill>
                  <a:srgbClr val="5EEAD4"/>
                </a:solidFill>
                <a:latin typeface="맑은 고딕"/>
                <a:ea typeface="맑은 고딕"/>
              </a:rPr>
              <a:t>'지문'으로 바뀐 문서만 골라 자동 갱신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886200"/>
            <a:ext cx="105156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12394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056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ECEE"/>
                </a:solidFill>
                <a:latin typeface="맑은 고딕"/>
                <a:ea typeface="맑은 고딕"/>
              </a:rPr>
              <a:t>정확한 답과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15137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엉뚱한 답·종목코드 누락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15137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→ </a:t>
            </a:r>
            <a:r>
              <a:rPr sz="1200" b="0">
                <a:solidFill>
                  <a:srgbClr val="5EEAD4"/>
                </a:solidFill>
                <a:latin typeface="맑은 고딕"/>
                <a:ea typeface="맑은 고딕"/>
              </a:rPr>
              <a:t>뜻+단어 하이브리드 검색 · 출처 부착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599432"/>
            <a:ext cx="105156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371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1888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ECECEE"/>
                </a:solidFill>
                <a:latin typeface="맑은 고딕"/>
                <a:ea typeface="맑은 고딕"/>
              </a:rPr>
              <a:t>외부 AI 의존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86460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사내 AI 구동 환경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86460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→ </a:t>
            </a:r>
            <a:r>
              <a:rPr sz="1200" b="0">
                <a:solidFill>
                  <a:srgbClr val="5EEAD4"/>
                </a:solidFill>
                <a:latin typeface="맑은 고딕"/>
                <a:ea typeface="맑은 고딕"/>
              </a:rPr>
              <a:t>모델 교체 계층 — 사내 도입 시 바로 전환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다음 두 장에서 가장 흥미로운 해결 과정을 자세히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05 · 딥다이브 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닫힌 폐쇄망에서 데이터 가져오기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핵심 질문: 사내에만 있는 편람을 어떻게 가져오나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175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9EAB"/>
                </a:solidFill>
                <a:latin typeface="Consolas"/>
                <a:ea typeface="Consolas"/>
              </a:rPr>
              <a:t>문제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사내망 PC엔 개발 도구를 깔 수 없다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94760"/>
            <a:ext cx="4617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5EEAD4"/>
                </a:solidFill>
                <a:latin typeface="Consolas"/>
                <a:ea typeface="Consolas"/>
              </a:rPr>
              <a:t>해결  </a:t>
            </a:r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'꺼내는 일'과 '가공하는 일'을 다른 컴퓨터로 분리 — 금고에선 서류만 꺼내고 정리는 밖에서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74320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9EAB"/>
                </a:solidFill>
                <a:latin typeface="Consolas"/>
                <a:ea typeface="Consolas"/>
              </a:rPr>
              <a:t>문제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AI가 위키에 매번 사람이 로그인해줘야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4617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5EEAD4"/>
                </a:solidFill>
                <a:latin typeface="Consolas"/>
                <a:ea typeface="Consolas"/>
              </a:rPr>
              <a:t>해결  </a:t>
            </a:r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로그인된 Windows 계정을 신분증처럼 활용 → 무인 접속. 매일 바뀌는 인증번호도 무관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EEAD4"/>
                </a:solidFill>
                <a:latin typeface="맑은 고딕"/>
                <a:ea typeface="맑은 고딕"/>
              </a:rPr>
              <a:t>↳ </a:t>
            </a:r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화면에 접혀 있던 페이지까지 빠짐없이 수집 — 편람 누락 0건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고객사도 똑같은 폐쇄망 — 이미 넘어온 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05 · 딥다이브 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정확한 답, 그리고 '왜 그 답인지'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발표에서 가장 궁금한 지점 — 정확한가, 근거를 댈 수 있는가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4320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175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9EAB"/>
                </a:solidFill>
                <a:latin typeface="Consolas"/>
                <a:ea typeface="Consolas"/>
              </a:rPr>
              <a:t>문제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'K-OTC' 같은 코드를 뜻으로만 찾으면 놓친다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794760"/>
            <a:ext cx="4617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5EEAD4"/>
                </a:solidFill>
                <a:latin typeface="Consolas"/>
                <a:ea typeface="Consolas"/>
              </a:rPr>
              <a:t>해결  </a:t>
            </a:r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'뜻으로 찾기' + '단어로 찾기'를 겹친 하이브리드 검색 → 검색 정확도가 눈에 띄게 상승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743200"/>
            <a:ext cx="5257800" cy="2148840"/>
          </a:xfrm>
          <a:prstGeom prst="roundRect">
            <a:avLst>
              <a:gd name="adj" fmla="val 5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9A9EAB"/>
                </a:solidFill>
                <a:latin typeface="Consolas"/>
                <a:ea typeface="Consolas"/>
              </a:rPr>
              <a:t>문제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AI가 가끔 그럴듯한 엉뚱한 답을 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794760"/>
            <a:ext cx="4617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5EEAD4"/>
                </a:solidFill>
                <a:latin typeface="Consolas"/>
                <a:ea typeface="Consolas"/>
              </a:rPr>
              <a:t>해결  </a:t>
            </a:r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모든 답에 근거 문서·페이지 부착 → 답보다 '근거'를 먼저 확인. 틀려도 즉시 추적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EEAD4"/>
                </a:solidFill>
                <a:latin typeface="맑은 고딕"/>
                <a:ea typeface="맑은 고딕"/>
              </a:rPr>
              <a:t>↳ </a:t>
            </a:r>
            <a:r>
              <a:rPr sz="1150" b="0">
                <a:solidFill>
                  <a:srgbClr val="9A9EAB"/>
                </a:solidFill>
                <a:latin typeface="맑은 고딕"/>
                <a:ea typeface="맑은 고딕"/>
              </a:rPr>
              <a:t>평가에서 정답이 항상 상위 3건 안에 포함 확인 (문항 확대 검증 중)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근거 없는 답은 내지 않는다 — 최종 판단은 사람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06 · 실제 도입한다면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이렇게 올린다 — 고려사항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지금 당장은 아니어도, 결정되면 바로 올릴 수 있는 그림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81527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ECECEE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79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React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324612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8375" y="278892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3081527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ECECEE"/>
                </a:solidFill>
                <a:latin typeface="맑은 고딕"/>
                <a:ea typeface="맑은 고딕"/>
              </a:rPr>
              <a:t>서비스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1256" y="3611879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API·권한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24612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278892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6672" y="3081527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ECECEE"/>
                </a:solidFill>
                <a:latin typeface="맑은 고딕"/>
                <a:ea typeface="맑은 고딕"/>
              </a:rPr>
              <a:t>검색·답변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611879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4" y="324612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9207" y="278892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27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7" y="3081527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5EEAD4"/>
                </a:solidFill>
                <a:latin typeface="맑은 고딕"/>
                <a:ea typeface="맑은 고딕"/>
              </a:rPr>
              <a:t>지식 저장소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7" y="3611879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기업용 벡터DB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246120"/>
            <a:ext cx="256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EEAD4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4624" y="2788920"/>
            <a:ext cx="1965960" cy="1463040"/>
          </a:xfrm>
          <a:prstGeom prst="roundRect">
            <a:avLst>
              <a:gd name="adj" fmla="val 6000"/>
            </a:avLst>
          </a:prstGeom>
          <a:solidFill>
            <a:srgbClr val="27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47503" y="3081527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5EEAD4"/>
                </a:solidFill>
                <a:latin typeface="맑은 고딕"/>
                <a:ea typeface="맑은 고딕"/>
              </a:rPr>
              <a:t>AI 모델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3" y="3611879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사내 전환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PoC는 가벼운 도구로 검증. </a:t>
            </a:r>
            <a:r>
              <a:rPr sz="1250" b="1">
                <a:solidFill>
                  <a:srgbClr val="5EEAD4"/>
                </a:solidFill>
                <a:latin typeface="맑은 고딕"/>
                <a:ea typeface="맑은 고딕"/>
              </a:rPr>
              <a:t>실서비스는 별도 서버 + 기업용 벡터DB + 사내 GPU</a:t>
            </a:r>
            <a:r>
              <a:rPr sz="1250" b="0">
                <a:solidFill>
                  <a:srgbClr val="9A9EAB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계층을 분리해 — 나중에 '답변 모델'만 사내용으로 갈아끼운다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01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0512" y="457200"/>
            <a:ext cx="837819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02 만든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091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03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1643" y="457200"/>
            <a:ext cx="62179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04 기술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9195" y="457200"/>
            <a:ext cx="973836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EEAD4"/>
                </a:solidFill>
                <a:latin typeface="맑은 고딕"/>
                <a:ea typeface="맑은 고딕"/>
              </a:rPr>
              <a:t>05 도입·비전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457200"/>
            <a:ext cx="2313432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ITO · AX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1704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07 · 앞으로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17904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ECEE"/>
                </a:solidFill>
                <a:latin typeface="맑은 고딕"/>
                <a:ea typeface="맑은 고딕"/>
              </a:rPr>
              <a:t>확장의 청사진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128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더 개발하겠다가 아니라, 도입 시 무엇이 필요한지를 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적용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맑은 고딕"/>
                <a:ea typeface="맑은 고딕"/>
              </a:rPr>
              <a:t>지금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36391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업무편람 — 구현·검증 완료 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547872"/>
            <a:ext cx="493776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67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맑은 고딕"/>
                <a:ea typeface="맑은 고딕"/>
              </a:rPr>
              <a:t>다음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947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사내 문서 통합 (게시판·파일서버)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06240"/>
            <a:ext cx="493776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256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맑은 고딕"/>
                <a:ea typeface="맑은 고딕"/>
              </a:rPr>
              <a:t>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4531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개인별 지식 허브 (메일·회의록)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97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필요한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08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맑은 고딕"/>
                <a:ea typeface="맑은 고딕"/>
              </a:rPr>
              <a:t>사내 AI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1363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AI 구동 GPU 서버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547872"/>
            <a:ext cx="50292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76732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맑은 고딕"/>
                <a:ea typeface="맑은 고딕"/>
              </a:rPr>
              <a:t>기업용 벡터DB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794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운영용 저장소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206240"/>
            <a:ext cx="5029200" cy="10972"/>
          </a:xfrm>
          <a:prstGeom prst="rect">
            <a:avLst/>
          </a:prstGeom>
          <a:solidFill>
            <a:srgbClr val="30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42569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ECEE"/>
                </a:solidFill>
                <a:latin typeface="맑은 고딕"/>
                <a:ea typeface="맑은 고딕"/>
              </a:rPr>
              <a:t>국산 금융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4531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데이터 주권·규제 대응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DD4BF"/>
                </a:solidFill>
                <a:latin typeface="맑은 고딕"/>
                <a:ea typeface="맑은 고딕"/>
              </a:rPr>
              <a:t>타 증권사도 이미 같은 방향으로 가고 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이 프로젝트를 끌고 갈 역량이 있다 — 그것을 오늘 보여줬다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5EEAD4"/>
                </a:solidFill>
                <a:latin typeface="맑은 고딕"/>
                <a:ea typeface="맑은 고딕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ECECEE"/>
                </a:solidFill>
                <a:latin typeface="맑은 고딕"/>
                <a:ea typeface="맑은 고딕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43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9EAB"/>
                </a:solidFill>
                <a:latin typeface="맑은 고딕"/>
                <a:ea typeface="맑은 고딕"/>
              </a:rPr>
              <a:t>ITO팀 · 2026 AX Day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맑은 고딕"/>
                <a:ea typeface="맑은 고딕"/>
              </a:rPr>
              <a:t>APPENDIX · 질문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361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ECECEE"/>
                </a:solidFill>
                <a:latin typeface="맑은 고딕"/>
                <a:ea typeface="맑은 고딕"/>
              </a:rPr>
              <a:t>정량 근거 수치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9EAB"/>
                </a:solidFill>
                <a:latin typeface="맑은 고딕"/>
                <a:ea typeface="맑은 고딕"/>
              </a:rPr>
              <a:t>본편에선 내세우지 않되, 물어보면 바로 답할 수 있는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2783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9A9EAB"/>
                </a:solidFill>
                <a:latin typeface="맑은 고딕"/>
                <a:ea typeface="맑은 고딕"/>
              </a:rPr>
              <a:t>편람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93592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EEAD4"/>
                </a:solidFill>
                <a:latin typeface="맑은 고딕"/>
                <a:ea typeface="맑은 고딕"/>
              </a:rPr>
              <a:t>520p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42232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누락 0건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8375" y="297180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1256" y="322783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9A9EAB"/>
                </a:solidFill>
                <a:latin typeface="맑은 고딕"/>
                <a:ea typeface="맑은 고딕"/>
              </a:rPr>
              <a:t>적재 조각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3593592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EEAD4"/>
                </a:solidFill>
                <a:latin typeface="맑은 고딕"/>
                <a:ea typeface="맑은 고딕"/>
              </a:rPr>
              <a:t>1,281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4142232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의미 단위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297180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322783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9A9EAB"/>
                </a:solidFill>
                <a:latin typeface="맑은 고딕"/>
                <a:ea typeface="맑은 고딕"/>
              </a:rPr>
              <a:t>검색 정확도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3593592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EEAD4"/>
                </a:solidFill>
                <a:latin typeface="맑은 고딕"/>
                <a:ea typeface="맑은 고딕"/>
              </a:rPr>
              <a:t>top-3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4142232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정답 항상 포함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9207" y="297180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2087" y="322783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9A9EAB"/>
                </a:solidFill>
                <a:latin typeface="맑은 고딕"/>
                <a:ea typeface="맑은 고딕"/>
              </a:rPr>
              <a:t>출처 부착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7" y="3593592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EEAD4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7" y="4142232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모든 답변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64624" y="297180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1E2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47503" y="322783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9A9EAB"/>
                </a:solidFill>
                <a:latin typeface="맑은 고딕"/>
                <a:ea typeface="맑은 고딕"/>
              </a:rPr>
              <a:t>재처리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47503" y="3593592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5EEAD4"/>
                </a:solidFill>
                <a:latin typeface="맑은 고딕"/>
                <a:ea typeface="맑은 고딕"/>
              </a:rPr>
              <a:t>변경분만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7503" y="4142232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9A9EAB"/>
                </a:solidFill>
                <a:latin typeface="맑은 고딕"/>
                <a:ea typeface="맑은 고딕"/>
              </a:rPr>
              <a:t>자동 갱신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920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545866"/>
                </a:solidFill>
                <a:latin typeface="맑은 고딕"/>
                <a:ea typeface="맑은 고딕"/>
              </a:rPr>
              <a:t>※ 답변 생성 정확도는 30문항 기준 — 문항 확대 검증 중. 억원·ROI 등 비용 수치는 산정 근거와 함께 별도 보관.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맑은 고딕"/>
                <a:ea typeface="맑은 고딕"/>
              </a:rPr>
              <a:t>→  </a:t>
            </a:r>
            <a:r>
              <a:rPr sz="1300" b="1">
                <a:solidFill>
                  <a:srgbClr val="ECECEE"/>
                </a:solidFill>
                <a:latin typeface="맑은 고딕"/>
                <a:ea typeface="맑은 고딕"/>
              </a:rPr>
              <a:t>수치는 '증명'의 근거일 뿐 — 메시지는 '이만큼 만드는 팀'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55080"/>
            <a:ext cx="822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45866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