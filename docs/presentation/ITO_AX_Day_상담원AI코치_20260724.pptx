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3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05840" y="1874519"/>
            <a:ext cx="109728" cy="219456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5544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ITO AX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057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2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상담원 AI 코치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703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상담응대를 정확하게, 상담교육을 더 효과적으로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5074920"/>
            <a:ext cx="9509760" cy="10972"/>
          </a:xfrm>
          <a:prstGeom prst="rect">
            <a:avLst/>
          </a:prstGeom>
          <a:solidFill>
            <a:srgbClr val="D8C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5257800"/>
            <a:ext cx="91440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dirty="0" err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한화투자증권</a:t>
            </a:r>
            <a:r>
              <a:rPr sz="1500" b="1" dirty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 ITO</a:t>
            </a:r>
            <a:r>
              <a:rPr lang="en-US" sz="1500" b="1" dirty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500" b="1" dirty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채널파트</a:t>
            </a:r>
            <a:endParaRPr sz="1500" b="1" dirty="0">
              <a:solidFill>
                <a:srgbClr val="3B2C2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24484" y="5230368"/>
            <a:ext cx="1331196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 dirty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2026</a:t>
            </a:r>
            <a:r>
              <a:rPr lang="en-US" sz="2200" b="1" dirty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.7</a:t>
            </a:r>
            <a:endParaRPr sz="2200" b="1" dirty="0">
              <a:solidFill>
                <a:srgbClr val="8B7E70"/>
              </a:solidFill>
              <a:latin typeface="Georgia"/>
              <a:ea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배경 · 지금 상담 현장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정보 분산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상담원이 답 하나를 찾으려면 매번 세 곳을 헤맨다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31720"/>
            <a:ext cx="344424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219456" bIns="201168" rtlCol="0" anchor="t"/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01</a:t>
            </a:r>
          </a:p>
          <a:p>
            <a:pPr algn="l">
              <a:spcAft>
                <a:spcPts val="500"/>
              </a:spcAft>
            </a:pPr>
            <a:r>
              <a:rPr sz="20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사내 위키</a:t>
            </a:r>
          </a:p>
          <a:p>
            <a:pPr algn="l">
              <a:spcAft>
                <a:spcPts val="500"/>
              </a:spcAft>
            </a:pPr>
            <a:endParaRPr sz="2000" b="1">
              <a:solidFill>
                <a:srgbClr val="3B2C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규정·절차가 잠들어 있는 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6928" y="2331720"/>
            <a:ext cx="344424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219456" bIns="201168" rtlCol="0" anchor="t"/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02</a:t>
            </a:r>
          </a:p>
          <a:p>
            <a:pPr algn="l">
              <a:spcAft>
                <a:spcPts val="500"/>
              </a:spcAft>
            </a:pPr>
            <a:r>
              <a:rPr sz="20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공지사항</a:t>
            </a:r>
          </a:p>
          <a:p>
            <a:pPr algn="l">
              <a:spcAft>
                <a:spcPts val="500"/>
              </a:spcAft>
            </a:pPr>
            <a:endParaRPr sz="2000" b="1">
              <a:solidFill>
                <a:srgbClr val="3B2C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매일 바뀌는 최신 안내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6928" y="2331720"/>
            <a:ext cx="344424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219456" bIns="201168" rtlCol="0" anchor="t"/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03</a:t>
            </a:r>
          </a:p>
          <a:p>
            <a:pPr algn="l">
              <a:spcAft>
                <a:spcPts val="500"/>
              </a:spcAft>
            </a:pPr>
            <a:r>
              <a:rPr sz="20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메신저</a:t>
            </a:r>
          </a:p>
          <a:p>
            <a:pPr algn="l">
              <a:spcAft>
                <a:spcPts val="500"/>
              </a:spcAft>
            </a:pPr>
            <a:endParaRPr sz="2000" b="1">
              <a:solidFill>
                <a:srgbClr val="3B2C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선배에게 물어 겨우 얻는 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지식은 많은데, 한 곳에 모여 있지 않다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배경 · 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주요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1064240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20823"/>
            <a:ext cx="1280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6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20823"/>
            <a:ext cx="8961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찾는 데 오래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질문 1건에 편람 검색 2~5분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09543"/>
            <a:ext cx="11064240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55847"/>
            <a:ext cx="1280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6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355847"/>
            <a:ext cx="8961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답이 사람마다 다름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상담 품질이 들쭉날쭉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44567"/>
            <a:ext cx="11064240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690871"/>
            <a:ext cx="1280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6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690871"/>
            <a:ext cx="8961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신입이 익히는 데 오래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OJT 3~6개월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느리고, 고르지 않고, 오래 걸린다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개요 · 한 장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두 가지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53492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Ins="274320" bIns="109728" rtlCol="0" anchor="ctr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응대 지원</a:t>
            </a:r>
          </a:p>
          <a:p>
            <a:pPr algn="l">
              <a:spcAft>
                <a:spcPts val="600"/>
              </a:spcAft>
            </a:pPr>
            <a:endParaRPr sz="2400" b="1">
              <a:solidFill>
                <a:srgbClr val="C05A17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상담원이 물으면,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편람 근거로 답하고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출처까지 보여준다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920240"/>
            <a:ext cx="53492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Ins="274320" bIns="109728" rtlCol="0" anchor="ctr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훈련 코치</a:t>
            </a:r>
          </a:p>
          <a:p>
            <a:pPr algn="l">
              <a:spcAft>
                <a:spcPts val="600"/>
              </a:spcAft>
            </a:pPr>
            <a:endParaRPr sz="2400" b="1">
              <a:solidFill>
                <a:srgbClr val="C05A17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AI가 고객 역할로 질문하고,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신입 답변을 채점하고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피드백까지 준다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2120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두 모드가 같은 편람 데이터를 함께 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98932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물어보면 답하고, 답하면 채점한다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개요 · 데이터가 흐르는 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데이터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pic>
        <p:nvPicPr>
          <p:cNvPr id="7" name="Picture 6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465" y="1389888"/>
            <a:ext cx="9642764" cy="424417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흩어진 편람을 AI가 꺼내 쓸 수 있는 형태로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개요 · 우리가 더한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핵심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09728" rIns="256032" bIns="109728" rtlCol="0" anchor="ctr"/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기본</a:t>
            </a:r>
          </a:p>
          <a:p>
            <a:pPr algn="l">
              <a:spcAft>
                <a:spcPts val="500"/>
              </a:spcAft>
            </a:pPr>
            <a:endParaRPr sz="2000" b="1">
              <a:solidFill>
                <a:srgbClr val="8B7E7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질문과 비슷한 문서를
찾아 답한다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417320"/>
            <a:ext cx="7132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우리가 더한 플러스 알파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74519"/>
            <a:ext cx="710488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82312" y="1874519"/>
            <a:ext cx="6583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제목과 본문을 따로 기억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헷갈리는 질문도 정확히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999231"/>
            <a:ext cx="710488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82312" y="2999231"/>
            <a:ext cx="6583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뜻으로도, 정확한 단어로도 함께 찾기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놓치는 답 줄임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4123943"/>
            <a:ext cx="710488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82312" y="4123943"/>
            <a:ext cx="6583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근거(출처)를 답보다 먼저 보여주기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믿고 쓴다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정보제공(RAG)을 더 정확하게, 신뢰를 더했다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dirty="0" err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문제</a:t>
            </a:r>
            <a:r>
              <a:rPr sz="1250" b="1" dirty="0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50" b="1" dirty="0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해결</a:t>
            </a:r>
            <a:r>
              <a:rPr sz="1250" b="1" dirty="0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·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인터넷이 막힌 폐쇄망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37744" bIns="219456" rtlCol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  <a:p>
            <a:pPr algn="l">
              <a:spcAft>
                <a:spcPts val="600"/>
              </a:spcAft>
            </a:pPr>
            <a:endParaRPr sz="1600" b="1">
              <a:solidFill>
                <a:srgbClr val="8B7E7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사내 편람을 밖으로
내보낼 수 없다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37744" bIns="219456" rtlCol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  <a:p>
            <a:pPr algn="l">
              <a:spcAft>
                <a:spcPts val="600"/>
              </a:spcAft>
            </a:pPr>
            <a:endParaRPr sz="1600" b="1">
              <a:solidFill>
                <a:srgbClr val="C05A17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사내 인증으로 위키·편람을
폐쇄망 안에서 직접 수집
(PDF·HTML 반입도 지원)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37744" bIns="219456" rtlCol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실제 운영 적용 시</a:t>
            </a:r>
          </a:p>
          <a:p>
            <a:pPr algn="l">
              <a:spcAft>
                <a:spcPts val="600"/>
              </a:spcAft>
            </a:pPr>
            <a:endParaRPr sz="1600" b="1">
              <a:solidFill>
                <a:srgbClr val="C05A17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서버를 두고 위키에 상시 연동해
자동으로 최신화
필요: 사내 서버 · 위키 접근 권한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지금도 수집되고, 서버가 붙으면 자동 연동된다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dirty="0" err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문제</a:t>
            </a:r>
            <a:r>
              <a:rPr sz="1250" b="1" dirty="0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50" b="1" dirty="0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해결</a:t>
            </a:r>
            <a:r>
              <a:rPr sz="1250" b="1" dirty="0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 ·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바뀐 건 한 줄인데, 전부 다시?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37744" bIns="219456" rtlCol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  <a:p>
            <a:pPr algn="l">
              <a:spcAft>
                <a:spcPts val="600"/>
              </a:spcAft>
            </a:pPr>
            <a:endParaRPr sz="1600" b="1">
              <a:solidFill>
                <a:srgbClr val="8B7E7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조금만 바뀌어도 전체를
다시 처리하면 느리고 비싸다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37744" bIns="219456" rtlCol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  <a:p>
            <a:pPr algn="l">
              <a:spcAft>
                <a:spcPts val="600"/>
              </a:spcAft>
            </a:pPr>
            <a:endParaRPr sz="1600" b="1">
              <a:solidFill>
                <a:srgbClr val="C05A17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내용 지문을 비교해
바뀐 조각만 갱신하도록 구현
변경 1~5%면 재작업 대부분 제거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37744" bIns="219456" rtlCol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실제 운영 적용 시</a:t>
            </a:r>
          </a:p>
          <a:p>
            <a:pPr algn="l">
              <a:spcAft>
                <a:spcPts val="600"/>
              </a:spcAft>
            </a:pPr>
            <a:endParaRPr sz="1600" b="1">
              <a:solidFill>
                <a:srgbClr val="C05A17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위키 변경에 맞춰
정기 자동 동기화
필요: 배치 스케줄러 운영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바뀐 1~5%만 손대 재작업을 없앴다 — 실제로 구현한 방식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dirty="0" err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문제</a:t>
            </a:r>
            <a:r>
              <a:rPr sz="1250" b="1" dirty="0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50" b="1" dirty="0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해결</a:t>
            </a:r>
            <a:r>
              <a:rPr sz="1250" b="1" dirty="0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 ·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그럴듯한 답 말고, 맞는 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37744" bIns="219456" rtlCol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  <a:p>
            <a:pPr algn="l">
              <a:spcAft>
                <a:spcPts val="600"/>
              </a:spcAft>
            </a:pPr>
            <a:endParaRPr sz="1600" b="1">
              <a:solidFill>
                <a:srgbClr val="8B7E7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단순 검색은 엉뚱한 근거로
그럴듯하게 틀린다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37744" bIns="219456" rtlCol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  <a:p>
            <a:pPr algn="l">
              <a:spcAft>
                <a:spcPts val="600"/>
              </a:spcAft>
            </a:pPr>
            <a:endParaRPr sz="1600" b="1">
              <a:solidFill>
                <a:srgbClr val="C05A17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뜻+단어 함께 찾기 · 조각 크기 조정 ·
출처 표시를 구현
최상위 적중률 62% → 81%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37744" bIns="219456" rtlCol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실제 운영 적용 시</a:t>
            </a:r>
          </a:p>
          <a:p>
            <a:pPr algn="l">
              <a:spcAft>
                <a:spcPts val="600"/>
              </a:spcAft>
            </a:pPr>
            <a:endParaRPr sz="1600" b="1">
              <a:solidFill>
                <a:srgbClr val="C05A17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전체 편람으로 평가 문항 확대 재측정 +
확신 낮은 답은 상담원 검토
필요: 정기 평가 체계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정확도를 실제로 끌어올렸다 (다음 장 수치)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dirty="0" err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문제</a:t>
            </a:r>
            <a:r>
              <a:rPr sz="1250" b="1" dirty="0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50" b="1" dirty="0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해결</a:t>
            </a:r>
            <a:r>
              <a:rPr sz="1250" b="1" dirty="0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 ·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지금은 외부 AI, 곧 사내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37744" bIns="219456" rtlCol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  <a:p>
            <a:pPr algn="l">
              <a:spcAft>
                <a:spcPts val="600"/>
              </a:spcAft>
            </a:pPr>
            <a:endParaRPr sz="1600" b="1">
              <a:solidFill>
                <a:srgbClr val="8B7E7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폐쇄망에서 바로 쓸
사내 생성 AI가 아직 없다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37744" bIns="219456" rtlCol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  <a:p>
            <a:pPr algn="l">
              <a:spcAft>
                <a:spcPts val="600"/>
              </a:spcAft>
            </a:pPr>
            <a:endParaRPr sz="1600" b="1">
              <a:solidFill>
                <a:srgbClr val="C05A17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검색·기억은 이미 전부 사내에서 동작
생성 AI만 갈아끼우기 쉽게 설계
(외부는 생성 1곳만 임시)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37744" bIns="219456" rtlCol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실제 운영 적용 시</a:t>
            </a:r>
          </a:p>
          <a:p>
            <a:pPr algn="l">
              <a:spcAft>
                <a:spcPts val="600"/>
              </a:spcAft>
            </a:pPr>
            <a:endParaRPr sz="1600" b="1">
              <a:solidFill>
                <a:srgbClr val="C05A17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사내망 모델을 붙여
코드 변경 없이 즉시 교체 → 완전 사내화
필요: 사내 GPU 서버 · 사내 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핵심은 이미 사내에서 돈다 — 생성만 갈아끼우면 완전 사내화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개요 · 시스템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시스템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pic>
        <p:nvPicPr>
          <p:cNvPr id="7" name="Picture 6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264" y="1115568"/>
            <a:ext cx="9437166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모델도 바꾸고, 데이터도 바꾸고, 화면도 바꿀 수 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2496" y="1682496"/>
            <a:ext cx="8796528" cy="4087367"/>
          </a:xfrm>
          <a:prstGeom prst="rect">
            <a:avLst/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demo_시연영상_실제버전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737360"/>
            <a:ext cx="8686800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37360" y="580644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슬라이드쇼 진입 시 자동재생됩니다.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응대 → 훈련까지, 한 화면에서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기대효과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기대 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344424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37744" bIns="219456" rtlCol="0" anchor="t"/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01</a:t>
            </a:r>
          </a:p>
          <a:p>
            <a:pPr algn="l">
              <a:spcAft>
                <a:spcPts val="500"/>
              </a:spcAft>
            </a:pPr>
            <a:r>
              <a:rPr sz="18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응대 시간 단축</a:t>
            </a:r>
          </a:p>
          <a:p>
            <a:pPr algn="l">
              <a:spcAft>
                <a:spcPts val="500"/>
              </a:spcAft>
            </a:pPr>
            <a:endParaRPr sz="1800" b="1">
              <a:solidFill>
                <a:srgbClr val="3B2C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편람 헤매던 시간을 줄인다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6928" y="2148840"/>
            <a:ext cx="344424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37744" bIns="219456" rtlCol="0" anchor="t"/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02</a:t>
            </a:r>
          </a:p>
          <a:p>
            <a:pPr algn="l">
              <a:spcAft>
                <a:spcPts val="500"/>
              </a:spcAft>
            </a:pPr>
            <a:r>
              <a:rPr sz="18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답변 품질 균일화</a:t>
            </a:r>
          </a:p>
          <a:p>
            <a:pPr algn="l">
              <a:spcAft>
                <a:spcPts val="500"/>
              </a:spcAft>
            </a:pPr>
            <a:endParaRPr sz="1800" b="1">
              <a:solidFill>
                <a:srgbClr val="3B2C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누가 받아도 같은 수준의 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6928" y="2148840"/>
            <a:ext cx="344424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37744" bIns="219456" rtlCol="0" anchor="t"/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03</a:t>
            </a:r>
          </a:p>
          <a:p>
            <a:pPr algn="l">
              <a:spcAft>
                <a:spcPts val="500"/>
              </a:spcAft>
            </a:pPr>
            <a:r>
              <a:rPr sz="18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신입 교육 지원</a:t>
            </a:r>
          </a:p>
          <a:p>
            <a:pPr algn="l">
              <a:spcAft>
                <a:spcPts val="500"/>
              </a:spcAft>
            </a:pPr>
            <a:endParaRPr sz="1800" b="1">
              <a:solidFill>
                <a:srgbClr val="3B2C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AI 코치로 더 빨리 익힌다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749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같은 인원으로 더 많은 · 더 고른 응대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빠르게, 고르게, 빨리 배운다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기대효과 ·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성능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44424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300"/>
              </a:spcAft>
            </a:pPr>
            <a:r>
              <a:rPr sz="4000" b="1">
                <a:solidFill>
                  <a:srgbClr val="C05A17"/>
                </a:solidFill>
                <a:latin typeface="Georgia"/>
                <a:ea typeface="Georgia"/>
                <a:cs typeface="Georgia"/>
              </a:rPr>
              <a:t>100%</a:t>
            </a:r>
          </a:p>
          <a:p>
            <a:pPr algn="ctr">
              <a:spcAft>
                <a:spcPts val="300"/>
              </a:spcAft>
            </a:pPr>
            <a:endParaRPr sz="4000" b="1">
              <a:solidFill>
                <a:srgbClr val="C05A17"/>
              </a:solidFill>
              <a:latin typeface="Georgia"/>
              <a:ea typeface="Georgia"/>
              <a:cs typeface="Georgia"/>
            </a:endParaRP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근거 문서를 상위 3개 안에서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찾는 비율 (자체 30문항)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6928" y="1965960"/>
            <a:ext cx="344424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300"/>
              </a:spcAft>
            </a:pPr>
            <a:r>
              <a:rPr sz="4000" b="1">
                <a:solidFill>
                  <a:srgbClr val="C05A17"/>
                </a:solidFill>
                <a:latin typeface="Georgia"/>
                <a:ea typeface="Georgia"/>
                <a:cs typeface="Georgia"/>
              </a:rPr>
              <a:t>62% → 81%</a:t>
            </a:r>
          </a:p>
          <a:p>
            <a:pPr algn="ctr">
              <a:spcAft>
                <a:spcPts val="300"/>
              </a:spcAft>
            </a:pPr>
            <a:endParaRPr sz="4000" b="1">
              <a:solidFill>
                <a:srgbClr val="C05A17"/>
              </a:solidFill>
              <a:latin typeface="Georgia"/>
              <a:ea typeface="Georgia"/>
              <a:cs typeface="Georgia"/>
            </a:endParaRP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뜻+단어 함께 찾기로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최상위 적중률 상승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6928" y="1965960"/>
            <a:ext cx="344424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300"/>
              </a:spcAft>
            </a:pPr>
            <a:r>
              <a:rPr sz="4000" b="1">
                <a:solidFill>
                  <a:srgbClr val="C05A17"/>
                </a:solidFill>
                <a:latin typeface="Georgia"/>
                <a:ea typeface="Georgia"/>
                <a:cs typeface="Georgia"/>
              </a:rPr>
              <a:t>80%</a:t>
            </a:r>
          </a:p>
          <a:p>
            <a:pPr algn="ctr">
              <a:spcAft>
                <a:spcPts val="300"/>
              </a:spcAft>
            </a:pPr>
            <a:endParaRPr sz="4000" b="1">
              <a:solidFill>
                <a:srgbClr val="C05A17"/>
              </a:solidFill>
              <a:latin typeface="Georgia"/>
              <a:ea typeface="Georgia"/>
              <a:cs typeface="Georgia"/>
            </a:endParaRP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답변 정확도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(15문항 채점 결과)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937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측정 기준 — 검색: 자체 30문항(개선 효과는 16문항) · 답변: 15문항 의미 채점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신뢰도를 더 다지기 위해 평가 문항을 100문항으로 늘려 재측정 예정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검색은 이미 최상위, 답변도 실측으로 확인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앞으로 · 도입 청사진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도입 요건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5367528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910328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서버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사내 GPU 서버에 올려 폐쇄망에서 운영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965960"/>
            <a:ext cx="5367528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1965960"/>
            <a:ext cx="4910328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기업용 지식 저장소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지금은 시험용, 실도입 땐 기업용으로 교체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721608"/>
            <a:ext cx="5367528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21608"/>
            <a:ext cx="4910328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사내 DB 연동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편람·시스템과 직접 연결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3721608"/>
            <a:ext cx="5367528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3721608"/>
            <a:ext cx="4910328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표준 연동 활용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사내 시스템을 표준 방식으로 연결 (향후)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POC를 실서비스로 올리는 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앞으로 · 우리의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도입하려면 이런 환경과 기술이 필요합니다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611880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사내 서버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3611880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사내 AI 모델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3611880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데이터 연동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892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환경만 갖춰지면 바로 올릴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우리는 준비됐다 — 남은 건 환경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005840" y="2651760"/>
            <a:ext cx="109728" cy="15544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2743200"/>
            <a:ext cx="100584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ko-KR" altLang="en-US" sz="3400" b="1" dirty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감사합니다</a:t>
            </a:r>
            <a:r>
              <a:rPr lang="en-US" altLang="ko-KR" sz="3400" b="1" dirty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3400" b="1" dirty="0">
              <a:solidFill>
                <a:srgbClr val="3B2C2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5880" y="4160520"/>
            <a:ext cx="10058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 err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한화투자증권</a:t>
            </a:r>
            <a:r>
              <a:rPr sz="1600" b="1" dirty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 ITO</a:t>
            </a:r>
            <a:r>
              <a:rPr lang="en-US" sz="1600" b="1" dirty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600" b="1" dirty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채널파트</a:t>
            </a:r>
            <a:endParaRPr sz="1600" b="1" dirty="0">
              <a:solidFill>
                <a:srgbClr val="8B7E7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746</Words>
  <Application>Microsoft Office PowerPoint</Application>
  <PresentationFormat>와이드스크린</PresentationFormat>
  <Paragraphs>187</Paragraphs>
  <Slides>17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woohyung jeon</cp:lastModifiedBy>
  <cp:revision>2</cp:revision>
  <dcterms:created xsi:type="dcterms:W3CDTF">2013-01-27T09:14:16Z</dcterms:created>
  <dcterms:modified xsi:type="dcterms:W3CDTF">2026-07-24T08:10:47Z</dcterms:modified>
  <cp:category/>
</cp:coreProperties>
</file>