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" cy="14630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사내 기술 공유 · PoC 4주 회고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증권 상담원 AI 코치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C7D2E4"/>
                </a:solidFill>
                <a:latin typeface="맑은 고딕"/>
                <a:ea typeface="맑은 고딕"/>
                <a:cs typeface="맑은 고딕"/>
              </a:rPr>
              <a:t>“물어보면 답하고, 답하면 채점하는 AI”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1206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무엇을 만들었나보다, 왜 그렇게 만들었나를 이야기합니다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CA8BC"/>
                </a:solidFill>
                <a:latin typeface="맑은 고딕"/>
                <a:ea typeface="맑은 고딕"/>
                <a:cs typeface="맑은 고딕"/>
              </a:rPr>
              <a:t>RAG 챗봇 + 신입 훈련 시뮬레이터  |  FastAPI · React · ChromaDB ·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오늘 이야기 4가지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91672" cy="98755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01   무엇을 만들었나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업무 챗봇 + 훈련 시뮬레이터, 4주 PoC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11091672" cy="98755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02   왜 그렇게 만들었나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DB·검색 구조·스트리밍·추상화, 선택의 이유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69080"/>
            <a:ext cx="11091672" cy="98755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03   어떤 시행착오가 있었나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크레딧 바닥 · 사내망 SSL · PDF 표 파싱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12080"/>
            <a:ext cx="11091672" cy="98755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04   폐쇄망에서 어떻게 쓰나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실도입 로드맵 — 교체 포인트는 단 3곳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01 · 무엇을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문제 — 사람이 편람을 뒤지고, 사람이 신입을 가르친다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고객 응대</a:t>
            </a:r>
          </a:p>
          <a:p>
            <a:pPr algn="ctr">
              <a:spcAft>
                <a:spcPts val="500"/>
              </a:spcAft>
            </a:pPr>
            <a:r>
              <a:rPr sz="54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2~5분</a:t>
            </a:r>
          </a:p>
          <a:p>
            <a:pPr algn="ctr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숙련 상담원도 편람을 직접 검색</a:t>
            </a:r>
          </a:p>
          <a:p>
            <a:pPr algn="ctr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신입은 그 이상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1168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신입 교육(OJT)</a:t>
            </a:r>
          </a:p>
          <a:p>
            <a:pPr algn="ctr">
              <a:spcAft>
                <a:spcPts val="500"/>
              </a:spcAft>
            </a:pPr>
            <a:r>
              <a:rPr sz="54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3~6개월</a:t>
            </a:r>
          </a:p>
          <a:p>
            <a:pPr algn="ctr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선배가 1:1로 붙어야 함</a:t>
            </a:r>
          </a:p>
          <a:p>
            <a:pPr algn="ctr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그런데 사람이 부족함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검색도, 교육도 사람의 시간을 갈아 넣는 구조 → AI로 둘 다 풀 수 있을까?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01 · 무엇을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해결 — 하나의 데이터, 두 가지 모드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9496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💬 챗봇 모드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상담원이 질문하면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편람/FAQ 검색 → 즉시 답변 + 출처 표시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“비대면 계좌 개설 절차가 뭐죠?”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→ 답변 + [출처: 편람 §계좌개설]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920240"/>
            <a:ext cx="539496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🎓 훈련 모드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AI가 고객 역할을 맡아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질문 출제 → 신입이 답변 → AI가 채점·피드백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AI: “양도세 언제 내요?” → 신입 답변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→ 점수 + 부족한 부분 피드백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 FAQ/편람 데이터를 — 챗봇은 “검색→답변”, 훈련은 “출제→채점”으로 다르게 쓴다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02 · 왜 그렇게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왜 파인튜닝이 아니라 RAG인가</a:t>
            </a:r>
          </a:p>
        </p:txBody>
      </p:sp>
      <p:sp>
        <p:nvSpPr>
          <p:cNvPr id="5" name="Chevron 4"/>
          <p:cNvSpPr/>
          <p:nvPr/>
        </p:nvSpPr>
        <p:spPr>
          <a:xfrm>
            <a:off x="548640" y="201168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</a:t>
            </a:r>
          </a:p>
        </p:txBody>
      </p:sp>
      <p:sp>
        <p:nvSpPr>
          <p:cNvPr id="6" name="Chevron 5"/>
          <p:cNvSpPr/>
          <p:nvPr/>
        </p:nvSpPr>
        <p:spPr>
          <a:xfrm>
            <a:off x="2788920" y="201168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임베딩 변환</a:t>
            </a:r>
          </a:p>
        </p:txBody>
      </p:sp>
      <p:sp>
        <p:nvSpPr>
          <p:cNvPr id="7" name="Chevron 6"/>
          <p:cNvSpPr/>
          <p:nvPr/>
        </p:nvSpPr>
        <p:spPr>
          <a:xfrm>
            <a:off x="5029200" y="201168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ChromaDB
유사 문서 검색</a:t>
            </a:r>
          </a:p>
        </p:txBody>
      </p:sp>
      <p:sp>
        <p:nvSpPr>
          <p:cNvPr id="8" name="Chevron 7"/>
          <p:cNvSpPr/>
          <p:nvPr/>
        </p:nvSpPr>
        <p:spPr>
          <a:xfrm>
            <a:off x="7269480" y="201168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LLM이 문서
참고해 생성</a:t>
            </a:r>
          </a:p>
        </p:txBody>
      </p:sp>
      <p:sp>
        <p:nvSpPr>
          <p:cNvPr id="9" name="Chevron 8"/>
          <p:cNvSpPr/>
          <p:nvPr/>
        </p:nvSpPr>
        <p:spPr>
          <a:xfrm>
            <a:off x="9509760" y="2011680"/>
            <a:ext cx="2130552" cy="1051560"/>
          </a:xfrm>
          <a:prstGeom prst="chevron">
            <a:avLst>
              <a:gd name="adj" fmla="val 35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답변 + 출처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11091672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모델은 그대로, 문서만 검색해서 보여준다 (RAG)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편람이 바뀌면? → 재학습 없이 재인제스트만 하면 끝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“어디서 나온 답이야?” → 검색한 문서가 곧 출처. 금융 도메인에서 필수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문서에 없으면 “모른다”고 답하게 강제 → 할루시네이션 억제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자주 바뀌는 사내 문서 + 출처 의무 → 파인튜닝보다 RAG가 구조적으로 유리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02 · 왜 그렇게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왜 벡터DB로 ChromaDB인가 — 기준은 “폐쇄망 이식성”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567178" cy="3749039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Pinecone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클라우드 전용 SaaS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관리 불필요, 성능 좋음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폐쇄망 반입 자체가 불가 → 탈락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0138" y="1965960"/>
            <a:ext cx="2567178" cy="3749039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Milvus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대규모 분산 벡터DB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수억 건 스케일 대응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서버·etcd 등 설치 복잡, PoC에 과함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965960"/>
            <a:ext cx="2567178" cy="3749039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FAISS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벡터 검색 라이브러리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빠르고 가벼움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DB가 아님 — 메타데이터 관리 직접 구현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73134" y="1965960"/>
            <a:ext cx="2567178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✅ ChromaDB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파일 기반 임베디드 DB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pip 한 줄 설치, 폴더 복사 = 이식 완료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대규모엔 부적합 (PoC 규모엔 충분)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폐쇄망 반입은 “파일 복사”가 가장 강력한 배포 수단 — 서버 없는 ChromaDB 선택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02 · 왜 그렇게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검색 품질 ① — 왜 제목과 본문을 따로 임베딩하나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문제: 본문이 길수록 제목의 주제 신호가 희석됨 → “양도세” 같은 짧은 질문에 취약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14344" cy="3611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본문만 임베딩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단일 컬렉션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단순, 임베딩 1회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긴 본문에서 주제 매칭 약화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7304" y="2057400"/>
            <a:ext cx="3514344" cy="3611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제목+본문 합쳐서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단일 컬렉션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역시 단순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가중치 조절 불가 — 본문 길수록 제목 묻힘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5968" y="2057400"/>
            <a:ext cx="3514344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✅ 두 컬렉션 분리 + 가중 병합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faq_titles / faq_contents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제목:내용 비율을 파라미터로 → 그리드 서치 튜닝 가능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임베딩 2배, ID 정합성 관리 필요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사람인HR 챗봇에서 검증된 기법(정확도 87%) — “튜닝 가능한 구조”를 사는 선택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02 · 왜 그렇게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검색 품질 ② — 동의어 문제와 Max Pooling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“양도세” = “주식 양도 세금” → 문서 1개에 제목 여러 개를 달아 해결 (원본/유사/요약 제목)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그런데 같은 문서가 검색 결과에 여러 번 등장하면, 점수를 어떻게 합칠까?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3514344" cy="3337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합산 (Sum)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등장한 제목 점수 전부 더함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직관적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제목 많이 단 문서가 무조건 이김 — 편향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7304" y="2331720"/>
            <a:ext cx="3514344" cy="3337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평균 (Mean)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제목 점수 평균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합산 편향은 회피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강하게 1번 일치한 신호가 희석됨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5968" y="2331720"/>
            <a:ext cx="3514344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✅ 최댓값 (Max Pooling)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가장 잘 맞은 제목 1개만 채택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제목 개수와 무관하게 공정 — 동의어를 마음껏 추가 가능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약한 다중 일치는 미반영 (의도된 동작)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순서도 중요: Max Pooling → 가중 병합 (순서를 바꾸면 제목 많은 문서가 부당 가중)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02 · 왜 그렇게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왜 출처를 답변보다 먼저 보내나 (SSE 스트리밍)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❌ 한 번에 JSON 응답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LLM 생성이 다 끝나야 화면에 표시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→ 사용자는 5초간 빈 화면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상담 중인 상담원에게 5초 침묵은 치명적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✅ SSE + sources 선전송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① event: sources — 검색 끝나는 즉시 출처·신뢰도 전송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② event: token — 답변을 토큰 단위로 점진 표시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③ event: done — 명시적 종료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출처는 검색 직후 이미 확정 — LLM을 기다릴 이유가 없다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“어떤 문서를 참고하는지”가 답변보다 먼저 보임 → 첫 응답 1초 + 신뢰 확보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02 · 왜 그렇게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가장 잘한 결정 — LLM 서비스 추상화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전제: PoC는 외부 API, 실도입은 폐쇄망 자체 호스팅 모델 → 교체는 “예정된 미래”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14344" cy="3611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SDK 직접 호출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rag.py 등에서 openai 직접 사용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당장 빠름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모델 교체 시 호출처 전부 수정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7304" y="2057400"/>
            <a:ext cx="3514344" cy="3611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LangChain 도입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프레임워크에 위임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멀티 LLM 지원 풍부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4주 PoC에 추상화 비용 과대, 디버깅 어려움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5968" y="2057400"/>
            <a:ext cx="3514344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✅ 자체 인터페이스 (ABC)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메서드 4개만: generate / generate_stream / embed / count_tokens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교체 = 구현체 1개 추가 + DI 한 곳 수정. 테스트 모킹 쉬움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새 모델마다 직접 구현 필요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딱 필요한 만큼만 추상화 — 이 결정이 일주일 뒤 진짜 보험금을 지급한다 (다음 장)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03 · 시행착오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① OpenAI 크레딧이 바닥났다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PoC 진행 중 API 크레딧 소진 — 충전 결제/조달 절차가 일정을 잡아먹는 상황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Claude는 당시 무료 임베딩 API가 제한적 → 무료 티어가 넓고 chat+embedding을 모두 주는 Gemini 선택</a:t>
            </a:r>
          </a:p>
        </p:txBody>
      </p:sp>
      <p:sp>
        <p:nvSpPr>
          <p:cNvPr id="6" name="Chevron 5"/>
          <p:cNvSpPr/>
          <p:nvPr/>
        </p:nvSpPr>
        <p:spPr>
          <a:xfrm>
            <a:off x="548640" y="3474720"/>
            <a:ext cx="2690622" cy="1051560"/>
          </a:xfrm>
          <a:prstGeom prst="chevron">
            <a:avLst>
              <a:gd name="adj" fmla="val 3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GPT-4o
text-embedding-3</a:t>
            </a:r>
          </a:p>
        </p:txBody>
      </p:sp>
      <p:sp>
        <p:nvSpPr>
          <p:cNvPr id="7" name="Chevron 6"/>
          <p:cNvSpPr/>
          <p:nvPr/>
        </p:nvSpPr>
        <p:spPr>
          <a:xfrm>
            <a:off x="3348990" y="3474720"/>
            <a:ext cx="2690622" cy="1051560"/>
          </a:xfrm>
          <a:prstGeom prst="chevron">
            <a:avLst>
              <a:gd name="adj" fmla="val 3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GeminiService
구현체 1개 작성</a:t>
            </a:r>
          </a:p>
        </p:txBody>
      </p:sp>
      <p:sp>
        <p:nvSpPr>
          <p:cNvPr id="8" name="Chevron 7"/>
          <p:cNvSpPr/>
          <p:nvPr/>
        </p:nvSpPr>
        <p:spPr>
          <a:xfrm>
            <a:off x="6149340" y="3474720"/>
            <a:ext cx="2690622" cy="1051560"/>
          </a:xfrm>
          <a:prstGeom prst="chevron">
            <a:avLst>
              <a:gd name="adj" fmla="val 3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DI 한 곳 교체</a:t>
            </a:r>
          </a:p>
        </p:txBody>
      </p:sp>
      <p:sp>
        <p:nvSpPr>
          <p:cNvPr id="9" name="Chevron 8"/>
          <p:cNvSpPr/>
          <p:nvPr/>
        </p:nvSpPr>
        <p:spPr>
          <a:xfrm>
            <a:off x="8949690" y="3474720"/>
            <a:ext cx="2690622" cy="1051560"/>
          </a:xfrm>
          <a:prstGeom prst="chevron">
            <a:avLst>
              <a:gd name="adj" fmla="val 35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gemini-2.5-flash
gemini-embedding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00600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추상화의 보험금: 호출처(rag·출제·채점) 코드 변경 0줄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단, 임베딩 차원 1536→3072 → ChromaDB는 --clear 재인제스트 필수 (공짜 점심은 없다)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교훈: 외부 의존(크레딧·결제)도 리스크다 — 추상화는 기술 부채가 아니라 보험이었다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03 · 시행착오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② 사내망에서 갑자기 SSL 에러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91672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CERTIFICATE_VERIFY_FAILED: self-signed certificate in certificate chain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원인: 사내 프록시(Zscaler)가 HTTPS에 자체 CA를 끼워 넣음 → SDK는 기본 CA(certifi)만 신뢰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9184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❌ 쉬운 길: verify=False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검색하면 제일 먼저 나오는 해법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사내 보안 정책 위반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•  중간자 공격에 그대로 노출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29184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✅ 옳은 길: 사내 CA를 신뢰 목록에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①  Windows 신뢰 저장소에서 CA 일괄 추출 (PS 스크립트화)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②  SSL_CERT_FILE 환경변수로 지정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③  REQUESTS_CA_BUNDLE 등도 동기화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폐쇄망/사내망 필수 노하우 — 스크립트로 만들어 두면 PC 교체·venv 재생성 시 재사용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03 · 시행착오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③ 편람 PDF의 표가 검색이 안 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업무편람 = 수수료율·코드 매핑 등 표 투성이 + 한국어 개조식 번호(1) 가. ㄱ.) — 검색 품질의 절반이 파싱에서 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14344" cy="30175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pymupdf (처음 선택)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텍스트 위주 추출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가볍고 빠름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표를 행/열 구조로 못 읽음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7304" y="2057400"/>
            <a:ext cx="3514344" cy="30175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pdfplumber + camelot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표 추출 조합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표 추출 가능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두 라이브러리 결합 복잡, 한국어 인식 부정확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5968" y="2057400"/>
            <a:ext cx="3514344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✅ Docling (IBM 오픈소스)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TableFormer로 표 구조 인식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5803D"/>
                </a:solidFill>
                <a:latin typeface="맑은 고딕"/>
                <a:ea typeface="맑은 고딕"/>
                <a:cs typeface="맑은 고딕"/>
              </a:rPr>
              <a:t>👍 표 구조 보존 + 헤딩 계층 → 출처 품질 향상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👎 패키지 무겁고 설치 오래 걸림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+ 한국어 개조식 깊이는 정규식으로 보강  |  표는 “전체 표” + “행 단위 문장화” 이중 적재 → 두 검색 모두 대응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교훈: RAG 정확도는 모델보다 파싱·청킹에서 먼저 갈린다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04 · 폐쇄망 실도입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교체 포인트는 단 3곳 — 나머지는 그대로 들고 간다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9167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5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LLM  </a:t>
            </a:r>
            <a:r>
              <a:rPr sz="1400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Gemini 2.5 Flash (API)  →  Qwen3-30B-A3B (자체 호스팅)</a:t>
            </a:r>
          </a:p>
          <a:p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오픈소스 필수. MoE 구조라 A100 1장으로 추론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07208"/>
            <a:ext cx="1109167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5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임베딩  </a:t>
            </a:r>
            <a:r>
              <a:rPr sz="1400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gemini-embedding (3072차원)  →  bge-m3 (1024차원)</a:t>
            </a:r>
          </a:p>
          <a:p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오픈소스 후보. 차원이 달라져 재인제스트 필요 — 이미 한 번 해봄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31336"/>
            <a:ext cx="11091672" cy="93268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5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벡터DB  </a:t>
            </a:r>
            <a:r>
              <a:rPr sz="140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ChromaDB (파일 기반)  →  ChromaDB 그대로</a:t>
            </a:r>
          </a:p>
          <a:p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처음부터 폐쇄망을 보고 고른 선택 — 폴더 복사로 이식 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55464"/>
            <a:ext cx="11091672" cy="93268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5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백엔드/UI  </a:t>
            </a:r>
            <a:r>
              <a:rPr sz="140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FastAPI + React  →  그대로</a:t>
            </a:r>
          </a:p>
          <a:p>
            <a:r>
              <a:rPr sz="12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추상화 인터페이스 뒤에 있어 변경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PoC에서 검증한 시행착오(재인제스트·CA 번들·추상화)가 그대로 폐쇄망 전환 매뉴얼이 된다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09728" cy="8686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코드보다 오래 남는 것 — ‘왜’의 기록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75304" cy="3383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📐 ADR 9건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결정마다 검토한 대안과 탈락 이유까지 기록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→ “왜 ChromaDB지?”에 6개월 뒤에도 답할 수 있음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920240"/>
            <a:ext cx="3575304" cy="3383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🔧 TROUBLESHOOTING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에러 → 원인 → 해결 → 교훈 형식으로 축적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→ 같은 SSL 삽질을 다음 사람이 반복하지 않음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1920240"/>
            <a:ext cx="3575304" cy="3383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91440"/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📝 PROMPT_HISTORY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프롬프트 변경을 코드와 분리해 버전 기록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→ 정확도가 떨어지면 코드 탓인지 프롬프트 탓인지 즉시 추적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AI가 짠 코드도 “작성자가 설명할 수 있어야 한다” — 2인 팀이 4주를 버틴 비결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828800"/>
            <a:ext cx="10058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오늘의 세 줄 요약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 기술 선택의 기준은 처음부터 “폐쇄망 이식성”이었다 — ChromaDB·추상화·오픈소스 후보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 시행착오는 기록하면 자산이 된다 — 크레딧·SSL·PDF 파싱 전부 문서로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 RAG 품질은 모델이 아니라 구조에서 나온다 — 분리 임베딩·Max Pooling·파싱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3949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7D2E4"/>
                </a:solidFill>
                <a:latin typeface="맑은 고딕"/>
                <a:ea typeface="맑은 고딕"/>
                <a:cs typeface="맑은 고딕"/>
              </a:rPr>
              <a:t>Q&amp;A  |  자세한 근거는 리포지토리 docs/adr/ 에 전부 있습니다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